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5"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6858000" type="screen4x3"/>
  <p:notesSz cx="6858000" cy="9144000"/>
  <p:embeddedFontLst>
    <p:embeddedFont>
      <p:font typeface="Consolas" panose="020B0609020204030204" pitchFamily="49" charset="0"/>
      <p:regular r:id="rId31"/>
      <p:bold r:id="rId32"/>
      <p:italic r:id="rId33"/>
      <p:boldItalic r:id="rId34"/>
    </p:embeddedFont>
    <p:embeddedFont>
      <p:font typeface="Open Sans" panose="020B0606030504020204" pitchFamily="3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1"/>
    <p:restoredTop sz="71088"/>
  </p:normalViewPr>
  <p:slideViewPr>
    <p:cSldViewPr snapToGrid="0">
      <p:cViewPr varScale="1">
        <p:scale>
          <a:sx n="89" d="100"/>
          <a:sy n="89" d="100"/>
        </p:scale>
        <p:origin x="2896" y="1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 name="Google Shape;54;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 name="Google Shape;65;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 name="Google Shape;66;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 name="Google Shape;73;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 name="Google Shape;7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 name="Google Shape;128;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Read Committed: In the "Read Committed" isolation level, a transaction sees only data that has been committed by other transactions. It ensures that data read by one transaction is not changed or deleted by other transactions until the reading transaction is completed. This level provides a good balance between data consistency and concurrency.</a:t>
            </a:r>
            <a:endParaRPr/>
          </a:p>
          <a:p>
            <a:pPr marL="0" lvl="0" indent="0" algn="l" rtl="0">
              <a:spcBef>
                <a:spcPts val="0"/>
              </a:spcBef>
              <a:spcAft>
                <a:spcPts val="0"/>
              </a:spcAft>
              <a:buNone/>
            </a:pPr>
            <a:endParaRPr/>
          </a:p>
          <a:p>
            <a:pPr marL="0" lvl="0" indent="0" algn="l" rtl="0">
              <a:spcBef>
                <a:spcPts val="0"/>
              </a:spcBef>
              <a:spcAft>
                <a:spcPts val="0"/>
              </a:spcAft>
              <a:buNone/>
            </a:pPr>
            <a:r>
              <a:rPr lang="en-US"/>
              <a:t>Serializable (Transaction Isolation Level):</a:t>
            </a:r>
            <a:endParaRPr/>
          </a:p>
          <a:p>
            <a:pPr marL="0" lvl="0" indent="0" algn="l" rtl="0">
              <a:spcBef>
                <a:spcPts val="0"/>
              </a:spcBef>
              <a:spcAft>
                <a:spcPts val="0"/>
              </a:spcAft>
              <a:buNone/>
            </a:pPr>
            <a:endParaRPr/>
          </a:p>
          <a:p>
            <a:pPr marL="0" lvl="0" indent="0" algn="l" rtl="0">
              <a:spcBef>
                <a:spcPts val="0"/>
              </a:spcBef>
              <a:spcAft>
                <a:spcPts val="0"/>
              </a:spcAft>
              <a:buNone/>
            </a:pPr>
            <a:r>
              <a:rPr lang="en-US"/>
              <a:t>Serializable is the highest level of transaction isolation in a database. In a serializable transaction, it provides the highest level of data consistency and isolation from other transactions. It ensures that the results of a transaction are as if it was the only transaction executing on the database, even when multiple transactions are running concurrently.</a:t>
            </a:r>
            <a:endParaRPr/>
          </a:p>
          <a:p>
            <a:pPr marL="0" lvl="0" indent="0" algn="l" rtl="0">
              <a:spcBef>
                <a:spcPts val="0"/>
              </a:spcBef>
              <a:spcAft>
                <a:spcPts val="0"/>
              </a:spcAft>
              <a:buNone/>
            </a:pPr>
            <a:endParaRPr/>
          </a:p>
          <a:p>
            <a:pPr marL="0" lvl="0" indent="0" algn="l" rtl="0">
              <a:spcBef>
                <a:spcPts val="0"/>
              </a:spcBef>
              <a:spcAft>
                <a:spcPts val="0"/>
              </a:spcAft>
              <a:buNone/>
            </a:pPr>
            <a:r>
              <a:rPr lang="en-US"/>
              <a:t>Read Only (Access Permission):</a:t>
            </a:r>
            <a:endParaRPr/>
          </a:p>
          <a:p>
            <a:pPr marL="0" lvl="0" indent="0" algn="l" rtl="0">
              <a:spcBef>
                <a:spcPts val="0"/>
              </a:spcBef>
              <a:spcAft>
                <a:spcPts val="0"/>
              </a:spcAft>
              <a:buNone/>
            </a:pPr>
            <a:endParaRPr/>
          </a:p>
          <a:p>
            <a:pPr marL="0" lvl="0" indent="0" algn="l" rtl="0">
              <a:spcBef>
                <a:spcPts val="0"/>
              </a:spcBef>
              <a:spcAft>
                <a:spcPts val="0"/>
              </a:spcAft>
              <a:buNone/>
            </a:pPr>
            <a:r>
              <a:rPr lang="en-US"/>
              <a:t>Read Only refers to the access permissions associated with a user, role, or session in a database. When a user or session is granted "READ ONLY" access, it means that they are only allowed to perform read operations on the database and are not permitted to make any modifications to the data, such as INSERT, UPDATE, or DELETE statements.</a:t>
            </a:r>
            <a:endParaRPr/>
          </a:p>
          <a:p>
            <a:pPr marL="0" lvl="0" indent="0" algn="l" rtl="0">
              <a:spcBef>
                <a:spcPts val="0"/>
              </a:spcBef>
              <a:spcAft>
                <a:spcPts val="0"/>
              </a:spcAft>
              <a:buNone/>
            </a:pPr>
            <a:endParaRPr/>
          </a:p>
          <a:p>
            <a:pPr marL="0" lvl="0" indent="0" algn="l" rtl="0">
              <a:spcBef>
                <a:spcPts val="0"/>
              </a:spcBef>
              <a:spcAft>
                <a:spcPts val="0"/>
              </a:spcAft>
              <a:buNone/>
            </a:pPr>
            <a:r>
              <a:rPr lang="en-US"/>
              <a:t>Key characteristics of a "READ ONLY" access permission:</a:t>
            </a:r>
            <a:endParaRPr/>
          </a:p>
          <a:p>
            <a:pPr marL="0" lvl="0" indent="0" algn="l" rtl="0">
              <a:spcBef>
                <a:spcPts val="0"/>
              </a:spcBef>
              <a:spcAft>
                <a:spcPts val="0"/>
              </a:spcAft>
              <a:buNone/>
            </a:pPr>
            <a:endParaRPr/>
          </a:p>
          <a:p>
            <a:pPr marL="0" lvl="0" indent="0" algn="l" rtl="0">
              <a:spcBef>
                <a:spcPts val="0"/>
              </a:spcBef>
              <a:spcAft>
                <a:spcPts val="0"/>
              </a:spcAft>
              <a:buNone/>
            </a:pPr>
            <a:r>
              <a:rPr lang="en-US"/>
              <a:t>Users can execute SELECT statements to retrieve data but cannot make any changes to the data.</a:t>
            </a:r>
            <a:endParaRPr/>
          </a:p>
          <a:p>
            <a:pPr marL="0" lvl="0" indent="0" algn="l" rtl="0">
              <a:spcBef>
                <a:spcPts val="0"/>
              </a:spcBef>
              <a:spcAft>
                <a:spcPts val="0"/>
              </a:spcAft>
              <a:buNone/>
            </a:pPr>
            <a:r>
              <a:rPr lang="en-US"/>
              <a:t>This access level is often used for reporting or querying-only users who should not be able to modify the database.</a:t>
            </a:r>
            <a:endParaRPr/>
          </a:p>
        </p:txBody>
      </p:sp>
      <p:sp>
        <p:nvSpPr>
          <p:cNvPr id="206" name="Google Shape;206;p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For each transaction you have to set the level, so if you want to do for all then you use the alter session things.</a:t>
            </a:r>
            <a:endParaRPr dirty="0"/>
          </a:p>
        </p:txBody>
      </p:sp>
      <p:sp>
        <p:nvSpPr>
          <p:cNvPr id="213" name="Google Shape;213;p2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p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2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 name="Google Shape;240;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
        <p:cNvGrpSpPr/>
        <p:nvPr/>
      </p:nvGrpSpPr>
      <p:grpSpPr>
        <a:xfrm>
          <a:off x="0" y="0"/>
          <a:ext cx="0" cy="0"/>
          <a:chOff x="0" y="0"/>
          <a:chExt cx="0" cy="0"/>
        </a:xfrm>
      </p:grpSpPr>
      <p:sp>
        <p:nvSpPr>
          <p:cNvPr id="15" name="Google Shape;15;p2"/>
          <p:cNvSpPr/>
          <p:nvPr/>
        </p:nvSpPr>
        <p:spPr>
          <a:xfrm>
            <a:off x="1066800" y="6248400"/>
            <a:ext cx="228600" cy="62848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 name="Google Shape;16;p2"/>
          <p:cNvSpPr txBox="1">
            <a:spLocks noGrp="1"/>
          </p:cNvSpPr>
          <p:nvPr>
            <p:ph type="sldNum" idx="12"/>
          </p:nvPr>
        </p:nvSpPr>
        <p:spPr>
          <a:xfrm>
            <a:off x="8229600" y="6340475"/>
            <a:ext cx="457200" cy="4413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17" name="Google Shape;17;p2"/>
          <p:cNvSpPr/>
          <p:nvPr/>
        </p:nvSpPr>
        <p:spPr>
          <a:xfrm>
            <a:off x="1066800" y="6248400"/>
            <a:ext cx="228600" cy="62848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 name="Google Shape;18;p2"/>
          <p:cNvSpPr txBox="1">
            <a:spLocks noGrp="1"/>
          </p:cNvSpPr>
          <p:nvPr>
            <p:ph type="ftr" idx="11"/>
          </p:nvPr>
        </p:nvSpPr>
        <p:spPr>
          <a:xfrm>
            <a:off x="5334000" y="6340475"/>
            <a:ext cx="2747790" cy="4413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p:nvPr/>
        </p:nvSpPr>
        <p:spPr>
          <a:xfrm>
            <a:off x="1066800" y="6248400"/>
            <a:ext cx="228600" cy="62848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3"/>
          <p:cNvSpPr/>
          <p:nvPr/>
        </p:nvSpPr>
        <p:spPr>
          <a:xfrm>
            <a:off x="1066800" y="6248400"/>
            <a:ext cx="152400" cy="62848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 name="Google Shape;22;p3"/>
          <p:cNvSpPr txBox="1">
            <a:spLocks noGrp="1"/>
          </p:cNvSpPr>
          <p:nvPr>
            <p:ph type="ctrTitle"/>
          </p:nvPr>
        </p:nvSpPr>
        <p:spPr>
          <a:xfrm>
            <a:off x="685800" y="1295400"/>
            <a:ext cx="7772400" cy="147002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3000"/>
              <a:buFont typeface="Open Sans"/>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subTitle" idx="1"/>
          </p:nvPr>
        </p:nvSpPr>
        <p:spPr>
          <a:xfrm>
            <a:off x="685800" y="2819400"/>
            <a:ext cx="7772400" cy="1905000"/>
          </a:xfrm>
          <a:prstGeom prst="rect">
            <a:avLst/>
          </a:prstGeom>
          <a:noFill/>
          <a:ln>
            <a:noFill/>
          </a:ln>
        </p:spPr>
        <p:txBody>
          <a:bodyPr spcFirstLastPara="1" wrap="square" lIns="91425" tIns="45700" rIns="91425" bIns="45700" anchor="t" anchorCtr="0">
            <a:normAutofit/>
          </a:bodyPr>
          <a:lstStyle>
            <a:lvl1pPr lvl="0" algn="l">
              <a:lnSpc>
                <a:spcPct val="110000"/>
              </a:lnSpc>
              <a:spcBef>
                <a:spcPts val="600"/>
              </a:spcBef>
              <a:spcAft>
                <a:spcPts val="0"/>
              </a:spcAft>
              <a:buClr>
                <a:srgbClr val="888888"/>
              </a:buClr>
              <a:buSzPts val="1760"/>
              <a:buNone/>
              <a:defRPr sz="2200">
                <a:solidFill>
                  <a:srgbClr val="888888"/>
                </a:solidFill>
              </a:defRPr>
            </a:lvl1pPr>
            <a:lvl2pPr lvl="1" algn="ctr">
              <a:lnSpc>
                <a:spcPct val="110000"/>
              </a:lnSpc>
              <a:spcBef>
                <a:spcPts val="300"/>
              </a:spcBef>
              <a:spcAft>
                <a:spcPts val="0"/>
              </a:spcAft>
              <a:buClr>
                <a:srgbClr val="888888"/>
              </a:buClr>
              <a:buSzPts val="1600"/>
              <a:buNone/>
              <a:defRPr>
                <a:solidFill>
                  <a:srgbClr val="888888"/>
                </a:solidFill>
              </a:defRPr>
            </a:lvl2pPr>
            <a:lvl3pPr lvl="2" algn="ctr">
              <a:lnSpc>
                <a:spcPct val="110000"/>
              </a:lnSpc>
              <a:spcBef>
                <a:spcPts val="300"/>
              </a:spcBef>
              <a:spcAft>
                <a:spcPts val="0"/>
              </a:spcAft>
              <a:buClr>
                <a:srgbClr val="888888"/>
              </a:buClr>
              <a:buSzPts val="2000"/>
              <a:buNone/>
              <a:defRPr>
                <a:solidFill>
                  <a:srgbClr val="888888"/>
                </a:solidFill>
              </a:defRPr>
            </a:lvl3pPr>
            <a:lvl4pPr lvl="3" algn="ctr">
              <a:lnSpc>
                <a:spcPct val="110000"/>
              </a:lnSpc>
              <a:spcBef>
                <a:spcPts val="300"/>
              </a:spcBef>
              <a:spcAft>
                <a:spcPts val="0"/>
              </a:spcAft>
              <a:buClr>
                <a:srgbClr val="888888"/>
              </a:buClr>
              <a:buSzPts val="1800"/>
              <a:buNone/>
              <a:defRPr>
                <a:solidFill>
                  <a:srgbClr val="888888"/>
                </a:solidFill>
              </a:defRPr>
            </a:lvl4pPr>
            <a:lvl5pPr lvl="4" algn="ctr">
              <a:lnSpc>
                <a:spcPct val="110000"/>
              </a:lnSpc>
              <a:spcBef>
                <a:spcPts val="300"/>
              </a:spcBef>
              <a:spcAft>
                <a:spcPts val="0"/>
              </a:spcAft>
              <a:buClr>
                <a:srgbClr val="888888"/>
              </a:buClr>
              <a:buSzPts val="18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4" name="Google Shape;24;p3"/>
          <p:cNvSpPr txBox="1">
            <a:spLocks noGrp="1"/>
          </p:cNvSpPr>
          <p:nvPr>
            <p:ph type="ftr" idx="11"/>
          </p:nvPr>
        </p:nvSpPr>
        <p:spPr>
          <a:xfrm>
            <a:off x="5334000" y="6340475"/>
            <a:ext cx="2747790" cy="4413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8229600" y="6340475"/>
            <a:ext cx="457200" cy="4413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26" name="Google Shape;26;p3"/>
          <p:cNvSpPr/>
          <p:nvPr/>
        </p:nvSpPr>
        <p:spPr>
          <a:xfrm>
            <a:off x="1066800" y="6248400"/>
            <a:ext cx="152400" cy="62848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 name="Google Shape;27;p3"/>
          <p:cNvSpPr/>
          <p:nvPr/>
        </p:nvSpPr>
        <p:spPr>
          <a:xfrm>
            <a:off x="1066800" y="6248400"/>
            <a:ext cx="152400" cy="62848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5334000" y="6340475"/>
            <a:ext cx="2747790" cy="4413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8229600" y="6340475"/>
            <a:ext cx="457200" cy="4413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32" name="Google Shape;32;p4"/>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a:bodyPr>
          <a:lstStyle>
            <a:lvl1pPr marL="457200" lvl="0" indent="-320040" algn="l">
              <a:lnSpc>
                <a:spcPct val="110000"/>
              </a:lnSpc>
              <a:spcBef>
                <a:spcPts val="600"/>
              </a:spcBef>
              <a:spcAft>
                <a:spcPts val="0"/>
              </a:spcAft>
              <a:buClr>
                <a:schemeClr val="dk1"/>
              </a:buClr>
              <a:buSzPts val="1440"/>
              <a:buChar char="▪"/>
              <a:defRPr/>
            </a:lvl1pPr>
            <a:lvl2pPr marL="914400" lvl="1" indent="-320040" algn="l">
              <a:lnSpc>
                <a:spcPct val="110000"/>
              </a:lnSpc>
              <a:spcBef>
                <a:spcPts val="300"/>
              </a:spcBef>
              <a:spcAft>
                <a:spcPts val="0"/>
              </a:spcAft>
              <a:buClr>
                <a:schemeClr val="dk1"/>
              </a:buClr>
              <a:buSzPts val="1440"/>
              <a:buChar char="-"/>
              <a:defRPr/>
            </a:lvl2pPr>
            <a:lvl3pPr marL="1371600" lvl="2" indent="-228600" algn="l">
              <a:lnSpc>
                <a:spcPct val="110000"/>
              </a:lnSpc>
              <a:spcBef>
                <a:spcPts val="300"/>
              </a:spcBef>
              <a:spcAft>
                <a:spcPts val="0"/>
              </a:spcAft>
              <a:buClr>
                <a:schemeClr val="dk1"/>
              </a:buClr>
              <a:buSzPts val="1800"/>
              <a:buNone/>
              <a:defRPr/>
            </a:lvl3pPr>
            <a:lvl4pPr marL="1828800" lvl="3" indent="-342900" algn="l">
              <a:lnSpc>
                <a:spcPct val="110000"/>
              </a:lnSpc>
              <a:spcBef>
                <a:spcPts val="300"/>
              </a:spcBef>
              <a:spcAft>
                <a:spcPts val="0"/>
              </a:spcAft>
              <a:buClr>
                <a:schemeClr val="dk1"/>
              </a:buClr>
              <a:buSzPts val="1800"/>
              <a:buChar char="–"/>
              <a:defRPr/>
            </a:lvl4pPr>
            <a:lvl5pPr marL="2286000" lvl="4" indent="-342900" algn="l">
              <a:lnSpc>
                <a:spcPct val="110000"/>
              </a:lnSpc>
              <a:spcBef>
                <a:spcPts val="3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457200" y="1371600"/>
            <a:ext cx="8305800" cy="136207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200"/>
              <a:buFont typeface="Open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457200" y="2895600"/>
            <a:ext cx="83058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600"/>
              </a:spcBef>
              <a:spcAft>
                <a:spcPts val="0"/>
              </a:spcAft>
              <a:buClr>
                <a:srgbClr val="888888"/>
              </a:buClr>
              <a:buSzPts val="1760"/>
              <a:buNone/>
              <a:defRPr sz="2200">
                <a:solidFill>
                  <a:srgbClr val="888888"/>
                </a:solidFill>
              </a:defRPr>
            </a:lvl1pPr>
            <a:lvl2pPr marL="914400" lvl="1" indent="-228600" algn="l">
              <a:lnSpc>
                <a:spcPct val="110000"/>
              </a:lnSpc>
              <a:spcBef>
                <a:spcPts val="300"/>
              </a:spcBef>
              <a:spcAft>
                <a:spcPts val="0"/>
              </a:spcAft>
              <a:buClr>
                <a:srgbClr val="888888"/>
              </a:buClr>
              <a:buSzPts val="1440"/>
              <a:buNone/>
              <a:defRPr sz="1800">
                <a:solidFill>
                  <a:srgbClr val="888888"/>
                </a:solidFill>
              </a:defRPr>
            </a:lvl2pPr>
            <a:lvl3pPr marL="1371600" lvl="2" indent="-228600" algn="l">
              <a:lnSpc>
                <a:spcPct val="110000"/>
              </a:lnSpc>
              <a:spcBef>
                <a:spcPts val="300"/>
              </a:spcBef>
              <a:spcAft>
                <a:spcPts val="0"/>
              </a:spcAft>
              <a:buClr>
                <a:srgbClr val="888888"/>
              </a:buClr>
              <a:buSzPts val="1600"/>
              <a:buNone/>
              <a:defRPr sz="1600">
                <a:solidFill>
                  <a:srgbClr val="888888"/>
                </a:solidFill>
              </a:defRPr>
            </a:lvl3pPr>
            <a:lvl4pPr marL="1828800" lvl="3" indent="-228600" algn="l">
              <a:lnSpc>
                <a:spcPct val="110000"/>
              </a:lnSpc>
              <a:spcBef>
                <a:spcPts val="300"/>
              </a:spcBef>
              <a:spcAft>
                <a:spcPts val="0"/>
              </a:spcAft>
              <a:buClr>
                <a:srgbClr val="888888"/>
              </a:buClr>
              <a:buSzPts val="1400"/>
              <a:buNone/>
              <a:defRPr sz="1400">
                <a:solidFill>
                  <a:srgbClr val="888888"/>
                </a:solidFill>
              </a:defRPr>
            </a:lvl4pPr>
            <a:lvl5pPr marL="2286000" lvl="4" indent="-228600" algn="l">
              <a:lnSpc>
                <a:spcPct val="110000"/>
              </a:lnSpc>
              <a:spcBef>
                <a:spcPts val="300"/>
              </a:spcBef>
              <a:spcAft>
                <a:spcPts val="0"/>
              </a:spcAft>
              <a:buClr>
                <a:srgbClr val="888888"/>
              </a:buClr>
              <a:buSzPts val="1400"/>
              <a:buNone/>
              <a:defRPr sz="1400">
                <a:solidFill>
                  <a:srgbClr val="888888"/>
                </a:solidFill>
              </a:defRPr>
            </a:lvl5pPr>
            <a:lvl6pPr marL="2743200" lvl="5" indent="-228600" algn="l">
              <a:spcBef>
                <a:spcPts val="30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6" name="Google Shape;36;p5"/>
          <p:cNvSpPr txBox="1">
            <a:spLocks noGrp="1"/>
          </p:cNvSpPr>
          <p:nvPr>
            <p:ph type="ftr" idx="11"/>
          </p:nvPr>
        </p:nvSpPr>
        <p:spPr>
          <a:xfrm>
            <a:off x="5334000" y="6340475"/>
            <a:ext cx="2747790" cy="4413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229600" y="6340475"/>
            <a:ext cx="457200" cy="4413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ftr" idx="11"/>
          </p:nvPr>
        </p:nvSpPr>
        <p:spPr>
          <a:xfrm>
            <a:off x="5334000" y="6340475"/>
            <a:ext cx="2747790" cy="4413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6"/>
          <p:cNvSpPr txBox="1">
            <a:spLocks noGrp="1"/>
          </p:cNvSpPr>
          <p:nvPr>
            <p:ph type="sldNum" idx="12"/>
          </p:nvPr>
        </p:nvSpPr>
        <p:spPr>
          <a:xfrm>
            <a:off x="8229600" y="6340475"/>
            <a:ext cx="457200" cy="4413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de Sample">
  <p:cSld name="Code Sample">
    <p:spTree>
      <p:nvGrpSpPr>
        <p:cNvPr id="1" name="Shape 42"/>
        <p:cNvGrpSpPr/>
        <p:nvPr/>
      </p:nvGrpSpPr>
      <p:grpSpPr>
        <a:xfrm>
          <a:off x="0" y="0"/>
          <a:ext cx="0" cy="0"/>
          <a:chOff x="0" y="0"/>
          <a:chExt cx="0" cy="0"/>
        </a:xfrm>
      </p:grpSpPr>
      <p:sp>
        <p:nvSpPr>
          <p:cNvPr id="43" name="Google Shape;43;p7"/>
          <p:cNvSpPr txBox="1">
            <a:spLocks noGrp="1"/>
          </p:cNvSpPr>
          <p:nvPr>
            <p:ph type="title"/>
          </p:nvPr>
        </p:nvSpPr>
        <p:spPr>
          <a:xfrm>
            <a:off x="457200" y="228600"/>
            <a:ext cx="8229600" cy="411162"/>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2000"/>
              <a:buFont typeface="Open Sans"/>
              <a:buNone/>
              <a:defRPr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7"/>
          <p:cNvSpPr txBox="1">
            <a:spLocks noGrp="1"/>
          </p:cNvSpPr>
          <p:nvPr>
            <p:ph type="ftr" idx="11"/>
          </p:nvPr>
        </p:nvSpPr>
        <p:spPr>
          <a:xfrm>
            <a:off x="5334000" y="6340475"/>
            <a:ext cx="2747790" cy="4413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7"/>
          <p:cNvSpPr txBox="1">
            <a:spLocks noGrp="1"/>
          </p:cNvSpPr>
          <p:nvPr>
            <p:ph type="sldNum" idx="12"/>
          </p:nvPr>
        </p:nvSpPr>
        <p:spPr>
          <a:xfrm>
            <a:off x="8229600" y="6340475"/>
            <a:ext cx="457200" cy="4413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46" name="Google Shape;46;p7"/>
          <p:cNvSpPr txBox="1">
            <a:spLocks noGrp="1"/>
          </p:cNvSpPr>
          <p:nvPr>
            <p:ph type="body" idx="1"/>
          </p:nvPr>
        </p:nvSpPr>
        <p:spPr>
          <a:xfrm>
            <a:off x="457200" y="762000"/>
            <a:ext cx="8229600" cy="54864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0"/>
              </a:spcBef>
              <a:spcAft>
                <a:spcPts val="0"/>
              </a:spcAft>
              <a:buClr>
                <a:schemeClr val="dk1"/>
              </a:buClr>
              <a:buSzPts val="1280"/>
              <a:buNone/>
              <a:defRPr sz="1600">
                <a:latin typeface="Consolas"/>
                <a:ea typeface="Consolas"/>
                <a:cs typeface="Consolas"/>
                <a:sym typeface="Consolas"/>
              </a:defRPr>
            </a:lvl1pPr>
            <a:lvl2pPr marL="914400" lvl="1" indent="-228600" algn="l">
              <a:lnSpc>
                <a:spcPct val="100000"/>
              </a:lnSpc>
              <a:spcBef>
                <a:spcPts val="0"/>
              </a:spcBef>
              <a:spcAft>
                <a:spcPts val="0"/>
              </a:spcAft>
              <a:buClr>
                <a:schemeClr val="dk1"/>
              </a:buClr>
              <a:buSzPts val="1280"/>
              <a:buNone/>
              <a:defRPr sz="1600">
                <a:latin typeface="Consolas"/>
                <a:ea typeface="Consolas"/>
                <a:cs typeface="Consolas"/>
                <a:sym typeface="Consolas"/>
              </a:defRPr>
            </a:lvl2pPr>
            <a:lvl3pPr marL="1371600" lvl="2" indent="-228600" algn="l">
              <a:lnSpc>
                <a:spcPct val="100000"/>
              </a:lnSpc>
              <a:spcBef>
                <a:spcPts val="0"/>
              </a:spcBef>
              <a:spcAft>
                <a:spcPts val="0"/>
              </a:spcAft>
              <a:buClr>
                <a:schemeClr val="dk1"/>
              </a:buClr>
              <a:buSzPts val="1600"/>
              <a:buFont typeface="Arial"/>
              <a:buNone/>
              <a:defRPr sz="1600">
                <a:latin typeface="Consolas"/>
                <a:ea typeface="Consolas"/>
                <a:cs typeface="Consolas"/>
                <a:sym typeface="Consolas"/>
              </a:defRPr>
            </a:lvl3pPr>
            <a:lvl4pPr marL="1828800" lvl="3" indent="-228600" algn="l">
              <a:lnSpc>
                <a:spcPct val="100000"/>
              </a:lnSpc>
              <a:spcBef>
                <a:spcPts val="0"/>
              </a:spcBef>
              <a:spcAft>
                <a:spcPts val="0"/>
              </a:spcAft>
              <a:buClr>
                <a:schemeClr val="dk1"/>
              </a:buClr>
              <a:buSzPts val="1600"/>
              <a:buNone/>
              <a:defRPr sz="1600">
                <a:latin typeface="Consolas"/>
                <a:ea typeface="Consolas"/>
                <a:cs typeface="Consolas"/>
                <a:sym typeface="Consolas"/>
              </a:defRPr>
            </a:lvl4pPr>
            <a:lvl5pPr marL="2286000" lvl="4" indent="-228600" algn="l">
              <a:lnSpc>
                <a:spcPct val="100000"/>
              </a:lnSpc>
              <a:spcBef>
                <a:spcPts val="0"/>
              </a:spcBef>
              <a:spcAft>
                <a:spcPts val="0"/>
              </a:spcAft>
              <a:buClr>
                <a:schemeClr val="dk1"/>
              </a:buClr>
              <a:buSzPts val="1600"/>
              <a:buNone/>
              <a:defRPr sz="1600">
                <a:latin typeface="Consolas"/>
                <a:ea typeface="Consolas"/>
                <a:cs typeface="Consolas"/>
                <a:sym typeface="Consola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47"/>
        <p:cNvGrpSpPr/>
        <p:nvPr/>
      </p:nvGrpSpPr>
      <p:grpSpPr>
        <a:xfrm>
          <a:off x="0" y="0"/>
          <a:ext cx="0" cy="0"/>
          <a:chOff x="0" y="0"/>
          <a:chExt cx="0" cy="0"/>
        </a:xfrm>
      </p:grpSpPr>
      <p:sp>
        <p:nvSpPr>
          <p:cNvPr id="48" name="Google Shape;48;p8"/>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8"/>
          <p:cNvSpPr txBox="1">
            <a:spLocks noGrp="1"/>
          </p:cNvSpPr>
          <p:nvPr>
            <p:ph type="ftr" idx="11"/>
          </p:nvPr>
        </p:nvSpPr>
        <p:spPr>
          <a:xfrm>
            <a:off x="5334000" y="6340475"/>
            <a:ext cx="2747790" cy="4413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8"/>
          <p:cNvSpPr txBox="1">
            <a:spLocks noGrp="1"/>
          </p:cNvSpPr>
          <p:nvPr>
            <p:ph type="sldNum" idx="12"/>
          </p:nvPr>
        </p:nvSpPr>
        <p:spPr>
          <a:xfrm>
            <a:off x="8229600" y="6340475"/>
            <a:ext cx="457200" cy="4413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51" name="Google Shape;51;p8"/>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a:bodyPr>
          <a:lstStyle>
            <a:lvl1pPr marL="457200" lvl="0" indent="-320040" algn="l">
              <a:lnSpc>
                <a:spcPct val="110000"/>
              </a:lnSpc>
              <a:spcBef>
                <a:spcPts val="600"/>
              </a:spcBef>
              <a:spcAft>
                <a:spcPts val="0"/>
              </a:spcAft>
              <a:buClr>
                <a:schemeClr val="dk1"/>
              </a:buClr>
              <a:buSzPts val="1440"/>
              <a:buChar char="▪"/>
              <a:defRPr/>
            </a:lvl1pPr>
            <a:lvl2pPr marL="914400" lvl="1" indent="-320040" algn="l">
              <a:lnSpc>
                <a:spcPct val="110000"/>
              </a:lnSpc>
              <a:spcBef>
                <a:spcPts val="300"/>
              </a:spcBef>
              <a:spcAft>
                <a:spcPts val="0"/>
              </a:spcAft>
              <a:buClr>
                <a:schemeClr val="dk1"/>
              </a:buClr>
              <a:buSzPts val="1440"/>
              <a:buChar char="-"/>
              <a:defRPr/>
            </a:lvl2pPr>
            <a:lvl3pPr marL="1371600" lvl="2" indent="-228600" algn="l">
              <a:lnSpc>
                <a:spcPct val="110000"/>
              </a:lnSpc>
              <a:spcBef>
                <a:spcPts val="300"/>
              </a:spcBef>
              <a:spcAft>
                <a:spcPts val="0"/>
              </a:spcAft>
              <a:buClr>
                <a:schemeClr val="dk1"/>
              </a:buClr>
              <a:buSzPts val="1800"/>
              <a:buNone/>
              <a:defRPr/>
            </a:lvl3pPr>
            <a:lvl4pPr marL="1828800" lvl="3" indent="-342900" algn="l">
              <a:lnSpc>
                <a:spcPct val="110000"/>
              </a:lnSpc>
              <a:spcBef>
                <a:spcPts val="300"/>
              </a:spcBef>
              <a:spcAft>
                <a:spcPts val="0"/>
              </a:spcAft>
              <a:buClr>
                <a:schemeClr val="dk1"/>
              </a:buClr>
              <a:buSzPts val="1800"/>
              <a:buChar char="–"/>
              <a:defRPr/>
            </a:lvl4pPr>
            <a:lvl5pPr marL="2286000" lvl="4" indent="-342900" algn="l">
              <a:lnSpc>
                <a:spcPct val="110000"/>
              </a:lnSpc>
              <a:spcBef>
                <a:spcPts val="3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chemeClr val="dk1"/>
              </a:buClr>
              <a:buSzPts val="2200"/>
              <a:buFont typeface="Open Sans"/>
              <a:buNone/>
              <a:defRPr sz="2200" b="1" i="0" u="none" strike="noStrike" cap="none">
                <a:solidFill>
                  <a:schemeClr val="dk1"/>
                </a:solidFill>
                <a:latin typeface="Open Sans"/>
                <a:ea typeface="Open Sans"/>
                <a:cs typeface="Open Sans"/>
                <a:sym typeface="Open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a:bodyPr>
          <a:lstStyle>
            <a:lvl1pPr marL="457200" marR="0" lvl="0" indent="-330200" algn="l" rtl="0">
              <a:lnSpc>
                <a:spcPct val="110000"/>
              </a:lnSpc>
              <a:spcBef>
                <a:spcPts val="600"/>
              </a:spcBef>
              <a:spcAft>
                <a:spcPts val="0"/>
              </a:spcAft>
              <a:buClr>
                <a:schemeClr val="dk1"/>
              </a:buClr>
              <a:buSzPts val="1600"/>
              <a:buFont typeface="Noto Sans Symbols"/>
              <a:buChar char="▪"/>
              <a:defRPr sz="2000" b="0" i="0" u="none" strike="noStrike" cap="none">
                <a:solidFill>
                  <a:schemeClr val="dk1"/>
                </a:solidFill>
                <a:latin typeface="Open Sans"/>
                <a:ea typeface="Open Sans"/>
                <a:cs typeface="Open Sans"/>
                <a:sym typeface="Open Sans"/>
              </a:defRPr>
            </a:lvl1pPr>
            <a:lvl2pPr marL="914400" marR="0" lvl="1" indent="-330200" algn="l" rtl="0">
              <a:lnSpc>
                <a:spcPct val="110000"/>
              </a:lnSpc>
              <a:spcBef>
                <a:spcPts val="300"/>
              </a:spcBef>
              <a:spcAft>
                <a:spcPts val="0"/>
              </a:spcAft>
              <a:buClr>
                <a:schemeClr val="dk1"/>
              </a:buClr>
              <a:buSzPts val="1600"/>
              <a:buFont typeface="Merriweather Sans"/>
              <a:buChar char="-"/>
              <a:defRPr sz="2000" b="0" i="0" u="none" strike="noStrike" cap="none">
                <a:solidFill>
                  <a:schemeClr val="dk1"/>
                </a:solidFill>
                <a:latin typeface="Open Sans"/>
                <a:ea typeface="Open Sans"/>
                <a:cs typeface="Open Sans"/>
                <a:sym typeface="Open Sans"/>
              </a:defRPr>
            </a:lvl2pPr>
            <a:lvl3pPr marL="1371600" marR="0" lvl="2" indent="-228600" algn="l" rtl="0">
              <a:lnSpc>
                <a:spcPct val="110000"/>
              </a:lnSpc>
              <a:spcBef>
                <a:spcPts val="300"/>
              </a:spcBef>
              <a:spcAft>
                <a:spcPts val="0"/>
              </a:spcAft>
              <a:buClr>
                <a:schemeClr val="dk1"/>
              </a:buClr>
              <a:buSzPts val="2000"/>
              <a:buFont typeface="Arial"/>
              <a:buNone/>
              <a:defRPr sz="2000" b="0" i="0" u="none" strike="noStrike" cap="none">
                <a:solidFill>
                  <a:schemeClr val="dk1"/>
                </a:solidFill>
                <a:latin typeface="Open Sans"/>
                <a:ea typeface="Open Sans"/>
                <a:cs typeface="Open Sans"/>
                <a:sym typeface="Open Sans"/>
              </a:defRPr>
            </a:lvl3pPr>
            <a:lvl4pPr marL="1828800" marR="0" lvl="3" indent="-342900" algn="l" rtl="0">
              <a:lnSpc>
                <a:spcPct val="110000"/>
              </a:lnSpc>
              <a:spcBef>
                <a:spcPts val="3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110000"/>
              </a:lnSpc>
              <a:spcBef>
                <a:spcPts val="3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ftr" idx="11"/>
          </p:nvPr>
        </p:nvSpPr>
        <p:spPr>
          <a:xfrm>
            <a:off x="5334000" y="6340475"/>
            <a:ext cx="2747790" cy="4413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rgbClr val="7F7F7F"/>
                </a:solidFill>
                <a:latin typeface="Open Sans"/>
                <a:ea typeface="Open Sans"/>
                <a:cs typeface="Open Sans"/>
                <a:sym typeface="Open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sldNum" idx="12"/>
          </p:nvPr>
        </p:nvSpPr>
        <p:spPr>
          <a:xfrm>
            <a:off x="8229600" y="6340475"/>
            <a:ext cx="457200" cy="4413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000" b="0" i="0" u="none" strike="noStrike" cap="none">
                <a:solidFill>
                  <a:srgbClr val="7F7F7F"/>
                </a:solidFill>
                <a:latin typeface="Open Sans"/>
                <a:ea typeface="Open Sans"/>
                <a:cs typeface="Open Sans"/>
                <a:sym typeface="Open Sans"/>
              </a:defRPr>
            </a:lvl1pPr>
            <a:lvl2pPr marL="0" marR="0" lvl="1" indent="0" algn="ctr" rtl="0">
              <a:spcBef>
                <a:spcPts val="0"/>
              </a:spcBef>
              <a:buNone/>
              <a:defRPr sz="1000" b="0" i="0" u="none" strike="noStrike" cap="none">
                <a:solidFill>
                  <a:srgbClr val="7F7F7F"/>
                </a:solidFill>
                <a:latin typeface="Open Sans"/>
                <a:ea typeface="Open Sans"/>
                <a:cs typeface="Open Sans"/>
                <a:sym typeface="Open Sans"/>
              </a:defRPr>
            </a:lvl2pPr>
            <a:lvl3pPr marL="0" marR="0" lvl="2" indent="0" algn="ctr" rtl="0">
              <a:spcBef>
                <a:spcPts val="0"/>
              </a:spcBef>
              <a:buNone/>
              <a:defRPr sz="1000" b="0" i="0" u="none" strike="noStrike" cap="none">
                <a:solidFill>
                  <a:srgbClr val="7F7F7F"/>
                </a:solidFill>
                <a:latin typeface="Open Sans"/>
                <a:ea typeface="Open Sans"/>
                <a:cs typeface="Open Sans"/>
                <a:sym typeface="Open Sans"/>
              </a:defRPr>
            </a:lvl3pPr>
            <a:lvl4pPr marL="0" marR="0" lvl="3" indent="0" algn="ctr" rtl="0">
              <a:spcBef>
                <a:spcPts val="0"/>
              </a:spcBef>
              <a:buNone/>
              <a:defRPr sz="1000" b="0" i="0" u="none" strike="noStrike" cap="none">
                <a:solidFill>
                  <a:srgbClr val="7F7F7F"/>
                </a:solidFill>
                <a:latin typeface="Open Sans"/>
                <a:ea typeface="Open Sans"/>
                <a:cs typeface="Open Sans"/>
                <a:sym typeface="Open Sans"/>
              </a:defRPr>
            </a:lvl4pPr>
            <a:lvl5pPr marL="0" marR="0" lvl="4" indent="0" algn="ctr" rtl="0">
              <a:spcBef>
                <a:spcPts val="0"/>
              </a:spcBef>
              <a:buNone/>
              <a:defRPr sz="1000" b="0" i="0" u="none" strike="noStrike" cap="none">
                <a:solidFill>
                  <a:srgbClr val="7F7F7F"/>
                </a:solidFill>
                <a:latin typeface="Open Sans"/>
                <a:ea typeface="Open Sans"/>
                <a:cs typeface="Open Sans"/>
                <a:sym typeface="Open Sans"/>
              </a:defRPr>
            </a:lvl5pPr>
            <a:lvl6pPr marL="0" marR="0" lvl="5" indent="0" algn="ctr" rtl="0">
              <a:spcBef>
                <a:spcPts val="0"/>
              </a:spcBef>
              <a:buNone/>
              <a:defRPr sz="1000" b="0" i="0" u="none" strike="noStrike" cap="none">
                <a:solidFill>
                  <a:srgbClr val="7F7F7F"/>
                </a:solidFill>
                <a:latin typeface="Open Sans"/>
                <a:ea typeface="Open Sans"/>
                <a:cs typeface="Open Sans"/>
                <a:sym typeface="Open Sans"/>
              </a:defRPr>
            </a:lvl6pPr>
            <a:lvl7pPr marL="0" marR="0" lvl="6" indent="0" algn="ctr" rtl="0">
              <a:spcBef>
                <a:spcPts val="0"/>
              </a:spcBef>
              <a:buNone/>
              <a:defRPr sz="1000" b="0" i="0" u="none" strike="noStrike" cap="none">
                <a:solidFill>
                  <a:srgbClr val="7F7F7F"/>
                </a:solidFill>
                <a:latin typeface="Open Sans"/>
                <a:ea typeface="Open Sans"/>
                <a:cs typeface="Open Sans"/>
                <a:sym typeface="Open Sans"/>
              </a:defRPr>
            </a:lvl7pPr>
            <a:lvl8pPr marL="0" marR="0" lvl="7" indent="0" algn="ctr" rtl="0">
              <a:spcBef>
                <a:spcPts val="0"/>
              </a:spcBef>
              <a:buNone/>
              <a:defRPr sz="1000" b="0" i="0" u="none" strike="noStrike" cap="none">
                <a:solidFill>
                  <a:srgbClr val="7F7F7F"/>
                </a:solidFill>
                <a:latin typeface="Open Sans"/>
                <a:ea typeface="Open Sans"/>
                <a:cs typeface="Open Sans"/>
                <a:sym typeface="Open Sans"/>
              </a:defRPr>
            </a:lvl8pPr>
            <a:lvl9pPr marL="0" marR="0" lvl="8" indent="0" algn="ctr" rtl="0">
              <a:spcBef>
                <a:spcPts val="0"/>
              </a:spcBef>
              <a:buNone/>
              <a:defRPr sz="1000" b="0" i="0" u="none" strike="noStrike" cap="none">
                <a:solidFill>
                  <a:srgbClr val="7F7F7F"/>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pic>
        <p:nvPicPr>
          <p:cNvPr id="3" name="Picture 2" descr="A close-up of a blue screen&#10;&#10;Description automatically generated">
            <a:extLst>
              <a:ext uri="{FF2B5EF4-FFF2-40B4-BE49-F238E27FC236}">
                <a16:creationId xmlns:a16="http://schemas.microsoft.com/office/drawing/2014/main" id="{7F04A91C-AD78-7DEA-505A-D85DC1A0075A}"/>
              </a:ext>
            </a:extLst>
          </p:cNvPr>
          <p:cNvPicPr>
            <a:picLocks noChangeAspect="1"/>
          </p:cNvPicPr>
          <p:nvPr/>
        </p:nvPicPr>
        <p:blipFill>
          <a:blip r:embed="rId3"/>
          <a:stretch>
            <a:fillRect/>
          </a:stretch>
        </p:blipFill>
        <p:spPr>
          <a:xfrm>
            <a:off x="0" y="0"/>
            <a:ext cx="9144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0"/>
          <p:cNvSpPr txBox="1">
            <a:spLocks noGrp="1"/>
          </p:cNvSpPr>
          <p:nvPr>
            <p:ph type="ctrTitle"/>
          </p:nvPr>
        </p:nvSpPr>
        <p:spPr>
          <a:xfrm>
            <a:off x="685800" y="1295400"/>
            <a:ext cx="7772400" cy="1470025"/>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1"/>
              </a:buClr>
              <a:buSzPts val="3000"/>
              <a:buFont typeface="Open Sans"/>
              <a:buNone/>
            </a:pPr>
            <a:r>
              <a:rPr lang="en-US"/>
              <a:t>COSC 404 – PL/SQL</a:t>
            </a:r>
            <a:endParaRPr/>
          </a:p>
        </p:txBody>
      </p:sp>
      <p:sp>
        <p:nvSpPr>
          <p:cNvPr id="62" name="Google Shape;62;p10"/>
          <p:cNvSpPr txBox="1">
            <a:spLocks noGrp="1"/>
          </p:cNvSpPr>
          <p:nvPr>
            <p:ph type="subTitle" idx="1"/>
          </p:nvPr>
        </p:nvSpPr>
        <p:spPr>
          <a:xfrm>
            <a:off x="651164" y="2808432"/>
            <a:ext cx="7772400" cy="19050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rgbClr val="888888"/>
              </a:buClr>
              <a:buSzPts val="1600"/>
              <a:buNone/>
            </a:pPr>
            <a:r>
              <a:rPr lang="en-US" sz="2000"/>
              <a:t>Transactions</a:t>
            </a:r>
            <a:endParaRPr/>
          </a:p>
          <a:p>
            <a:pPr marL="0" lvl="0" indent="0" algn="l" rtl="0">
              <a:lnSpc>
                <a:spcPct val="110000"/>
              </a:lnSpc>
              <a:spcBef>
                <a:spcPts val="900"/>
              </a:spcBef>
              <a:spcAft>
                <a:spcPts val="0"/>
              </a:spcAft>
              <a:buClr>
                <a:srgbClr val="888888"/>
              </a:buClr>
              <a:buSzPts val="1600"/>
              <a:buNone/>
            </a:pPr>
            <a:endParaRPr sz="2000"/>
          </a:p>
          <a:p>
            <a:pPr marL="0" lvl="0" indent="0" algn="r" rtl="0">
              <a:lnSpc>
                <a:spcPct val="110000"/>
              </a:lnSpc>
              <a:spcBef>
                <a:spcPts val="900"/>
              </a:spcBef>
              <a:spcAft>
                <a:spcPts val="0"/>
              </a:spcAft>
              <a:buClr>
                <a:srgbClr val="888888"/>
              </a:buClr>
              <a:buSzPts val="1600"/>
              <a:buNone/>
            </a:pP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1"/>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dirty="0">
                <a:latin typeface="Times New Roman" panose="02020603050405020304" pitchFamily="18" charset="0"/>
                <a:ea typeface="Tahoma" panose="020B0604030504040204" pitchFamily="34" charset="0"/>
                <a:cs typeface="Times New Roman" panose="02020603050405020304" pitchFamily="18" charset="0"/>
              </a:rPr>
              <a:t>Transaction Review</a:t>
            </a:r>
            <a:endParaRPr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69" name="Google Shape;69;p11"/>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a:bodyPr>
          <a:lstStyle/>
          <a:p>
            <a:pPr marL="182563" lvl="0" indent="-182563" algn="l" rtl="0">
              <a:lnSpc>
                <a:spcPct val="110000"/>
              </a:lnSpc>
              <a:spcBef>
                <a:spcPts val="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A transaction is a fundamental concept in database management. It is a sequence of one or more SQL statements treated as a single, indivisible unit of work. </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The ACID properties, which stand for Atomicity, Consistency, Isolation, and Durability, are crucial in understanding how transactions work.</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Atomicity ensures that all the statements within a transaction are treated as a single, all-or-nothing operation. If any part of the transaction fails, the entire transaction is rolled back (undone).</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dirty="0">
                <a:latin typeface="Times New Roman" panose="02020603050405020304" pitchFamily="18" charset="0"/>
                <a:cs typeface="Times New Roman" panose="02020603050405020304" pitchFamily="18" charset="0"/>
              </a:rPr>
              <a:t>Transaction Review</a:t>
            </a:r>
            <a:endParaRPr dirty="0">
              <a:latin typeface="Times New Roman" panose="02020603050405020304" pitchFamily="18" charset="0"/>
              <a:cs typeface="Times New Roman" panose="02020603050405020304" pitchFamily="18" charset="0"/>
            </a:endParaRPr>
          </a:p>
        </p:txBody>
      </p:sp>
      <p:sp>
        <p:nvSpPr>
          <p:cNvPr id="76" name="Google Shape;76;p12"/>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a:bodyPr>
          <a:lstStyle/>
          <a:p>
            <a:pPr marL="182563" lvl="0" indent="-182563" algn="l" rtl="0">
              <a:lnSpc>
                <a:spcPct val="110000"/>
              </a:lnSpc>
              <a:spcBef>
                <a:spcPts val="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A transaction is a logical unit of work containing one or more SQL statements.</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A transaction is an atomic unit.</a:t>
            </a:r>
            <a:endParaRPr dirty="0">
              <a:latin typeface="Times New Roman" panose="02020603050405020304" pitchFamily="18" charset="0"/>
              <a:cs typeface="Times New Roman" panose="02020603050405020304" pitchFamily="18" charset="0"/>
            </a:endParaRPr>
          </a:p>
          <a:p>
            <a:pPr marL="355600" lvl="1" indent="-173037" algn="l" rtl="0">
              <a:lnSpc>
                <a:spcPct val="110000"/>
              </a:lnSpc>
              <a:spcBef>
                <a:spcPts val="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This means the effects of all the SQL statements in a transaction can be either all applied (committed to the database) or all undone (rolled back from the database).</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3"/>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dirty="0">
                <a:latin typeface="Times New Roman" panose="02020603050405020304" pitchFamily="18" charset="0"/>
                <a:cs typeface="Times New Roman" panose="02020603050405020304" pitchFamily="18" charset="0"/>
              </a:rPr>
              <a:t>Transaction Review</a:t>
            </a:r>
            <a:endParaRPr dirty="0">
              <a:latin typeface="Times New Roman" panose="02020603050405020304" pitchFamily="18" charset="0"/>
              <a:cs typeface="Times New Roman" panose="02020603050405020304" pitchFamily="18" charset="0"/>
            </a:endParaRPr>
          </a:p>
        </p:txBody>
      </p:sp>
      <p:sp>
        <p:nvSpPr>
          <p:cNvPr id="83" name="Google Shape;83;p13"/>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A Transaction</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Begins with the first executable SQL statement. </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Ends when it is committed or rolled back, either explicitly with a COMMIT or ROLLBACK statement or implicitly when a DDL statement is issued.</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Explicit end:</a:t>
            </a:r>
            <a:endParaRPr dirty="0">
              <a:latin typeface="Times New Roman" panose="02020603050405020304" pitchFamily="18" charset="0"/>
              <a:cs typeface="Times New Roman" panose="02020603050405020304" pitchFamily="18" charset="0"/>
            </a:endParaRPr>
          </a:p>
          <a:p>
            <a:pPr marL="355600" lvl="1" indent="-173037" algn="l" rtl="0">
              <a:lnSpc>
                <a:spcPct val="110000"/>
              </a:lnSpc>
              <a:spcBef>
                <a:spcPts val="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Commit; Rollback;</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Implicit end:</a:t>
            </a:r>
            <a:endParaRPr dirty="0">
              <a:latin typeface="Times New Roman" panose="02020603050405020304" pitchFamily="18" charset="0"/>
              <a:cs typeface="Times New Roman" panose="02020603050405020304" pitchFamily="18" charset="0"/>
            </a:endParaRPr>
          </a:p>
          <a:p>
            <a:pPr marL="355600" lvl="1" indent="-173037" algn="l" rtl="0">
              <a:lnSpc>
                <a:spcPct val="110000"/>
              </a:lnSpc>
              <a:spcBef>
                <a:spcPts val="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Execute a DDL statement. Example: CREATE, DROP, RENAME, or ALTER..</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4"/>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dirty="0">
                <a:latin typeface="Times New Roman" panose="02020603050405020304" pitchFamily="18" charset="0"/>
                <a:cs typeface="Times New Roman" panose="02020603050405020304" pitchFamily="18" charset="0"/>
              </a:rPr>
              <a:t>Committing</a:t>
            </a:r>
            <a:endParaRPr dirty="0">
              <a:latin typeface="Times New Roman" panose="02020603050405020304" pitchFamily="18" charset="0"/>
              <a:cs typeface="Times New Roman" panose="02020603050405020304" pitchFamily="18" charset="0"/>
            </a:endParaRPr>
          </a:p>
        </p:txBody>
      </p:sp>
      <p:sp>
        <p:nvSpPr>
          <p:cNvPr id="90" name="Google Shape;90;p14"/>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a:bodyPr>
          <a:lstStyle/>
          <a:p>
            <a:pPr marL="182563" lvl="0" indent="-182563" algn="l" rtl="0">
              <a:lnSpc>
                <a:spcPct val="110000"/>
              </a:lnSpc>
              <a:spcBef>
                <a:spcPts val="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Means changes in the transaction be made permanent.</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Changes become visible to other users after commit.</a:t>
            </a:r>
            <a:endParaRPr dirty="0">
              <a:latin typeface="Times New Roman" panose="02020603050405020304" pitchFamily="18" charset="0"/>
              <a:cs typeface="Times New Roman" panose="02020603050405020304" pitchFamily="18" charset="0"/>
            </a:endParaRPr>
          </a:p>
          <a:p>
            <a:pPr marL="182563" lvl="0" indent="-80963"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dirty="0">
                <a:latin typeface="Times New Roman" panose="02020603050405020304" pitchFamily="18" charset="0"/>
                <a:cs typeface="Times New Roman" panose="02020603050405020304" pitchFamily="18" charset="0"/>
              </a:rPr>
              <a:t>Rollback</a:t>
            </a:r>
            <a:endParaRPr dirty="0">
              <a:latin typeface="Times New Roman" panose="02020603050405020304" pitchFamily="18" charset="0"/>
              <a:cs typeface="Times New Roman" panose="02020603050405020304" pitchFamily="18" charset="0"/>
            </a:endParaRPr>
          </a:p>
        </p:txBody>
      </p:sp>
      <p:sp>
        <p:nvSpPr>
          <p:cNvPr id="97" name="Google Shape;97;p15"/>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a:bodyPr>
          <a:lstStyle/>
          <a:p>
            <a:pPr marL="182563" lvl="0" indent="-182563" algn="l" rtl="0">
              <a:lnSpc>
                <a:spcPct val="110000"/>
              </a:lnSpc>
              <a:spcBef>
                <a:spcPts val="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If an SQL statement causes an error during execution, all statement effects are rolled back. The effect of the rollback is as if that statement had never been run.</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This is called statement-level rollback.</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An example of such an error is attempting to insert a duplicate value in a primary key. Single SQL statements involved in a deadlock (competition for the same data) can also cause a statement-level rollback. Errors discovered during SQL statement parsing, such as a syntax error, have not yet been run, so they do not cause a statement-level</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A SQL statement that fails causes the loss only of any work it would have performed itself. It does not cause the loss of any work that preceded it in the current transaction.</a:t>
            </a:r>
            <a:endParaRPr dirty="0">
              <a:latin typeface="Times New Roman" panose="02020603050405020304" pitchFamily="18" charset="0"/>
              <a:cs typeface="Times New Roman" panose="02020603050405020304" pitchFamily="18" charset="0"/>
            </a:endParaRPr>
          </a:p>
          <a:p>
            <a:pPr marL="182563" lvl="0" indent="-80963"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dirty="0">
                <a:latin typeface="Times New Roman" panose="02020603050405020304" pitchFamily="18" charset="0"/>
                <a:cs typeface="Times New Roman" panose="02020603050405020304" pitchFamily="18" charset="0"/>
              </a:rPr>
              <a:t>Rollback</a:t>
            </a:r>
            <a:endParaRPr dirty="0">
              <a:latin typeface="Times New Roman" panose="02020603050405020304" pitchFamily="18" charset="0"/>
              <a:cs typeface="Times New Roman" panose="02020603050405020304" pitchFamily="18" charset="0"/>
            </a:endParaRPr>
          </a:p>
        </p:txBody>
      </p:sp>
      <p:sp>
        <p:nvSpPr>
          <p:cNvPr id="104" name="Google Shape;104;p16"/>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a:bodyPr>
          <a:lstStyle/>
          <a:p>
            <a:pPr marL="182563" lvl="0" indent="-182563" algn="l" rtl="0">
              <a:lnSpc>
                <a:spcPct val="110000"/>
              </a:lnSpc>
              <a:spcBef>
                <a:spcPts val="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ROLLBACK: Undoes the changes made in the transaction, returning the data to its previous state.</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dirty="0">
                <a:latin typeface="Times New Roman" panose="02020603050405020304" pitchFamily="18" charset="0"/>
                <a:cs typeface="Times New Roman" panose="02020603050405020304" pitchFamily="18" charset="0"/>
              </a:rPr>
              <a:t>Example of using Commit and Rollback</a:t>
            </a:r>
            <a:endParaRPr dirty="0">
              <a:latin typeface="Times New Roman" panose="02020603050405020304" pitchFamily="18" charset="0"/>
              <a:cs typeface="Times New Roman" panose="02020603050405020304" pitchFamily="18" charset="0"/>
            </a:endParaRPr>
          </a:p>
        </p:txBody>
      </p:sp>
      <p:sp>
        <p:nvSpPr>
          <p:cNvPr id="111" name="Google Shape;111;p17"/>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CREATE TABLE teams (city varchar2(20), name varchar2(20));</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INSERT INTO teams VALUES ('Toronto', 'Raptors');</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INSERT INTO teams VALUES ('Los Angeles', 'Lakers');</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ROLLBACK;</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a:p>
            <a:pPr marL="182563" lvl="0" indent="-182563" algn="l" rtl="0">
              <a:lnSpc>
                <a:spcPct val="110000"/>
              </a:lnSpc>
              <a:spcBef>
                <a:spcPts val="60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Notice that after creating the table and running the insert statements, once you run the ROLLBACK statement, the transaction (logical unit of work containing one or more SQL statements) has its effects removed from the table (i.e. no inserted values)</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8"/>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dirty="0">
                <a:latin typeface="Times New Roman" panose="02020603050405020304" pitchFamily="18" charset="0"/>
                <a:cs typeface="Times New Roman" panose="02020603050405020304" pitchFamily="18" charset="0"/>
              </a:rPr>
              <a:t>Example of using Commit and Rollback</a:t>
            </a:r>
            <a:endParaRPr dirty="0">
              <a:latin typeface="Times New Roman" panose="02020603050405020304" pitchFamily="18" charset="0"/>
              <a:cs typeface="Times New Roman" panose="02020603050405020304" pitchFamily="18" charset="0"/>
            </a:endParaRPr>
          </a:p>
        </p:txBody>
      </p:sp>
      <p:sp>
        <p:nvSpPr>
          <p:cNvPr id="118" name="Google Shape;118;p18"/>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INSERT INTO teams VALUES ('Toronto', 'Raptors');</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INSERT INTO teams VALUES ('Los Angeles', 'Lakers');</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COMMIT;</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a:p>
            <a:pPr marL="182563" lvl="0" indent="-182563" algn="l" rtl="0">
              <a:lnSpc>
                <a:spcPct val="110000"/>
              </a:lnSpc>
              <a:spcBef>
                <a:spcPts val="60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Now run the COMMIT statement afterwards, which will essentially make the changes made by our transaction permanent.</a:t>
            </a:r>
            <a:endParaRPr dirty="0">
              <a:latin typeface="Times New Roman" panose="02020603050405020304" pitchFamily="18" charset="0"/>
              <a:cs typeface="Times New Roman" panose="02020603050405020304" pitchFamily="18" charset="0"/>
            </a:endParaRPr>
          </a:p>
          <a:p>
            <a:pPr marL="182563" lvl="0" indent="-80963"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To ensure try running another ROLLBACK afterwards and notice there is no changes to our table.</a:t>
            </a:r>
            <a:endParaRPr dirty="0">
              <a:latin typeface="Times New Roman" panose="02020603050405020304" pitchFamily="18" charset="0"/>
              <a:cs typeface="Times New Roman" panose="02020603050405020304" pitchFamily="18" charset="0"/>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9"/>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dirty="0">
                <a:latin typeface="Times New Roman" panose="02020603050405020304" pitchFamily="18" charset="0"/>
                <a:cs typeface="Times New Roman" panose="02020603050405020304" pitchFamily="18" charset="0"/>
              </a:rPr>
              <a:t>Autonomous Transactions</a:t>
            </a:r>
            <a:endParaRPr dirty="0">
              <a:latin typeface="Times New Roman" panose="02020603050405020304" pitchFamily="18" charset="0"/>
              <a:cs typeface="Times New Roman" panose="02020603050405020304" pitchFamily="18" charset="0"/>
            </a:endParaRPr>
          </a:p>
        </p:txBody>
      </p:sp>
      <p:sp>
        <p:nvSpPr>
          <p:cNvPr id="125" name="Google Shape;125;p19"/>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a:bodyPr>
          <a:lstStyle/>
          <a:p>
            <a:pPr marL="182563" lvl="0" indent="-182563" algn="l" rtl="0">
              <a:lnSpc>
                <a:spcPct val="110000"/>
              </a:lnSpc>
              <a:spcBef>
                <a:spcPts val="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Autonomous transactions in PL/SQL are special types of transactions that are independent of the main transaction. </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These autonomous transactions allow you to execute SQL statements that are not affected by the main transaction and can commit or roll back independently of the main transaction. </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This is particularly useful in scenarios where you need to log information, generate audit records, or perform other tasks without interfering with the main business transaction.</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0"/>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dirty="0">
                <a:latin typeface="Times New Roman" panose="02020603050405020304" pitchFamily="18" charset="0"/>
                <a:cs typeface="Times New Roman" panose="02020603050405020304" pitchFamily="18" charset="0"/>
              </a:rPr>
              <a:t>Autonomous Transactions</a:t>
            </a:r>
            <a:endParaRPr dirty="0">
              <a:latin typeface="Times New Roman" panose="02020603050405020304" pitchFamily="18" charset="0"/>
              <a:cs typeface="Times New Roman" panose="02020603050405020304" pitchFamily="18" charset="0"/>
            </a:endParaRPr>
          </a:p>
        </p:txBody>
      </p:sp>
      <p:sp>
        <p:nvSpPr>
          <p:cNvPr id="132" name="Google Shape;132;p20"/>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a:bodyPr>
          <a:lstStyle/>
          <a:p>
            <a:pPr marL="182563" lvl="0" indent="-182563" algn="l" rtl="0">
              <a:lnSpc>
                <a:spcPct val="110000"/>
              </a:lnSpc>
              <a:spcBef>
                <a:spcPts val="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Any block of PL/SQL code (anonymous, procedure, function, or trigger) can be performed in an autonomous transaction by including:</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b="1" dirty="0">
                <a:latin typeface="Times New Roman" panose="02020603050405020304" pitchFamily="18" charset="0"/>
                <a:cs typeface="Times New Roman" panose="02020603050405020304" pitchFamily="18" charset="0"/>
                <a:sym typeface="Open Sans"/>
              </a:rPr>
              <a:t>PRAGMA AUTONOMOUS_TRANSACTION;</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in the DECLARE section of the block and providing a COMMIT statement at the point in the code where you want the transaction to end and be committed (typically the last statement). That COMMIT statement will not perform a commit of the main transaction.</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1"/>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dirty="0">
                <a:latin typeface="Times New Roman" panose="02020603050405020304" pitchFamily="18" charset="0"/>
                <a:cs typeface="Times New Roman" panose="02020603050405020304" pitchFamily="18" charset="0"/>
              </a:rPr>
              <a:t>Autonomous Transactions</a:t>
            </a:r>
            <a:endParaRPr dirty="0">
              <a:latin typeface="Times New Roman" panose="02020603050405020304" pitchFamily="18" charset="0"/>
              <a:cs typeface="Times New Roman" panose="02020603050405020304" pitchFamily="18" charset="0"/>
            </a:endParaRPr>
          </a:p>
        </p:txBody>
      </p:sp>
      <p:sp>
        <p:nvSpPr>
          <p:cNvPr id="139" name="Google Shape;139;p21"/>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lnSpcReduction="10000"/>
          </a:bodyPr>
          <a:lstStyle/>
          <a:p>
            <a:pPr marL="182563" lvl="0" indent="-182563" algn="l" rtl="0">
              <a:lnSpc>
                <a:spcPct val="110000"/>
              </a:lnSpc>
              <a:spcBef>
                <a:spcPts val="0"/>
              </a:spcBef>
              <a:spcAft>
                <a:spcPts val="0"/>
              </a:spcAft>
              <a:buClr>
                <a:schemeClr val="dk1"/>
              </a:buClr>
              <a:buSzPct val="80000"/>
              <a:buChar char="▪"/>
            </a:pPr>
            <a:r>
              <a:rPr lang="en-US" dirty="0">
                <a:latin typeface="Times New Roman" panose="02020603050405020304" pitchFamily="18" charset="0"/>
                <a:cs typeface="Times New Roman" panose="02020603050405020304" pitchFamily="18" charset="0"/>
                <a:sym typeface="Open Sans"/>
              </a:rPr>
              <a:t>The effects to the database of the PL/SQL code executed in a trigger will be rolled back if the transaction that started the trigger is rolled back (via a rollback statement, for example). </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ct val="80000"/>
              <a:buChar char="▪"/>
            </a:pPr>
            <a:r>
              <a:rPr lang="en-US" dirty="0">
                <a:latin typeface="Times New Roman" panose="02020603050405020304" pitchFamily="18" charset="0"/>
                <a:cs typeface="Times New Roman" panose="02020603050405020304" pitchFamily="18" charset="0"/>
                <a:sym typeface="Open Sans"/>
              </a:rPr>
              <a:t>One of the obvious problems with this </a:t>
            </a:r>
            <a:r>
              <a:rPr lang="en-US" dirty="0" err="1">
                <a:latin typeface="Times New Roman" panose="02020603050405020304" pitchFamily="18" charset="0"/>
                <a:cs typeface="Times New Roman" panose="02020603050405020304" pitchFamily="18" charset="0"/>
                <a:sym typeface="Open Sans"/>
              </a:rPr>
              <a:t>behaviour</a:t>
            </a:r>
            <a:r>
              <a:rPr lang="en-US" dirty="0">
                <a:latin typeface="Times New Roman" panose="02020603050405020304" pitchFamily="18" charset="0"/>
                <a:cs typeface="Times New Roman" panose="02020603050405020304" pitchFamily="18" charset="0"/>
                <a:sym typeface="Open Sans"/>
              </a:rPr>
              <a:t> occurs when a trigger's purpose is to add entries into an audit table when an UPDATE, DELETE, or INSERT is performed. </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ct val="80000"/>
              <a:buChar char="▪"/>
            </a:pPr>
            <a:r>
              <a:rPr lang="en-US" dirty="0">
                <a:latin typeface="Times New Roman" panose="02020603050405020304" pitchFamily="18" charset="0"/>
                <a:cs typeface="Times New Roman" panose="02020603050405020304" pitchFamily="18" charset="0"/>
                <a:sym typeface="Open Sans"/>
              </a:rPr>
              <a:t>Although we may always want to track any modification attempts regardless of whether they were rolled back or not, this </a:t>
            </a:r>
            <a:r>
              <a:rPr lang="en-US" dirty="0" err="1">
                <a:latin typeface="Times New Roman" panose="02020603050405020304" pitchFamily="18" charset="0"/>
                <a:cs typeface="Times New Roman" panose="02020603050405020304" pitchFamily="18" charset="0"/>
                <a:sym typeface="Open Sans"/>
              </a:rPr>
              <a:t>behaviour</a:t>
            </a:r>
            <a:r>
              <a:rPr lang="en-US" dirty="0">
                <a:latin typeface="Times New Roman" panose="02020603050405020304" pitchFamily="18" charset="0"/>
                <a:cs typeface="Times New Roman" panose="02020603050405020304" pitchFamily="18" charset="0"/>
                <a:sym typeface="Open Sans"/>
              </a:rPr>
              <a:t> would remove audit records inserted as part of the same transaction. </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ct val="80000"/>
              <a:buChar char="▪"/>
            </a:pPr>
            <a:r>
              <a:rPr lang="en-US" dirty="0">
                <a:latin typeface="Times New Roman" panose="02020603050405020304" pitchFamily="18" charset="0"/>
                <a:cs typeface="Times New Roman" panose="02020603050405020304" pitchFamily="18" charset="0"/>
                <a:sym typeface="Open Sans"/>
              </a:rPr>
              <a:t>To resolve this issue, we can require that the executable code of a PL/SQL block be performed in a transaction that is committed independent of the main transaction. In this case, main transaction refers to the transaction that generated the triggering event. </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ct val="80000"/>
              <a:buChar char="▪"/>
            </a:pPr>
            <a:r>
              <a:rPr lang="en-US" dirty="0">
                <a:latin typeface="Times New Roman" panose="02020603050405020304" pitchFamily="18" charset="0"/>
                <a:cs typeface="Times New Roman" panose="02020603050405020304" pitchFamily="18" charset="0"/>
                <a:sym typeface="Open Sans"/>
              </a:rPr>
              <a:t>Such an independently committed event is referred to as an Autonomous Transaction.</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2"/>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dirty="0">
                <a:latin typeface="Times New Roman" panose="02020603050405020304" pitchFamily="18" charset="0"/>
                <a:cs typeface="Times New Roman" panose="02020603050405020304" pitchFamily="18" charset="0"/>
              </a:rPr>
              <a:t>Example</a:t>
            </a:r>
            <a:endParaRPr dirty="0">
              <a:latin typeface="Times New Roman" panose="02020603050405020304" pitchFamily="18" charset="0"/>
              <a:cs typeface="Times New Roman" panose="02020603050405020304" pitchFamily="18" charset="0"/>
            </a:endParaRPr>
          </a:p>
        </p:txBody>
      </p:sp>
      <p:sp>
        <p:nvSpPr>
          <p:cNvPr id="146" name="Google Shape;146;p22"/>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fontScale="92500"/>
          </a:bodyPr>
          <a:lstStyle/>
          <a:p>
            <a:pPr marL="0" lvl="0" indent="0" algn="l" rtl="0">
              <a:lnSpc>
                <a:spcPct val="110000"/>
              </a:lnSpc>
              <a:spcBef>
                <a:spcPts val="0"/>
              </a:spcBef>
              <a:spcAft>
                <a:spcPts val="0"/>
              </a:spcAft>
              <a:buClr>
                <a:schemeClr val="dk1"/>
              </a:buClr>
              <a:buSzPct val="80000"/>
              <a:buNone/>
            </a:pPr>
            <a:r>
              <a:rPr lang="en-US" dirty="0">
                <a:latin typeface="Times New Roman" panose="02020603050405020304" pitchFamily="18" charset="0"/>
                <a:cs typeface="Times New Roman" panose="02020603050405020304" pitchFamily="18" charset="0"/>
                <a:sym typeface="Open Sans"/>
              </a:rPr>
              <a:t>Create a table</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ct val="80000"/>
              <a:buNone/>
            </a:pPr>
            <a:r>
              <a:rPr lang="en-US" dirty="0">
                <a:latin typeface="Times New Roman" panose="02020603050405020304" pitchFamily="18" charset="0"/>
                <a:cs typeface="Times New Roman" panose="02020603050405020304" pitchFamily="18" charset="0"/>
                <a:sym typeface="Open Sans"/>
              </a:rPr>
              <a:t>CREATE TABLE </a:t>
            </a:r>
            <a:r>
              <a:rPr lang="en-US" dirty="0" err="1">
                <a:latin typeface="Times New Roman" panose="02020603050405020304" pitchFamily="18" charset="0"/>
                <a:cs typeface="Times New Roman" panose="02020603050405020304" pitchFamily="18" charset="0"/>
                <a:sym typeface="Open Sans"/>
              </a:rPr>
              <a:t>Lecture_Audit_LOG</a:t>
            </a:r>
            <a:r>
              <a:rPr lang="en-US" dirty="0">
                <a:latin typeface="Times New Roman" panose="02020603050405020304" pitchFamily="18" charset="0"/>
                <a:cs typeface="Times New Roman" panose="02020603050405020304" pitchFamily="18" charset="0"/>
                <a:sym typeface="Open Sans"/>
              </a:rPr>
              <a:t> (</a:t>
            </a:r>
            <a:r>
              <a:rPr lang="en-US" dirty="0" err="1">
                <a:latin typeface="Times New Roman" panose="02020603050405020304" pitchFamily="18" charset="0"/>
                <a:cs typeface="Times New Roman" panose="02020603050405020304" pitchFamily="18" charset="0"/>
                <a:sym typeface="Open Sans"/>
              </a:rPr>
              <a:t>audit_time</a:t>
            </a:r>
            <a:r>
              <a:rPr lang="en-US" dirty="0">
                <a:latin typeface="Times New Roman" panose="02020603050405020304" pitchFamily="18" charset="0"/>
                <a:cs typeface="Times New Roman" panose="02020603050405020304" pitchFamily="18" charset="0"/>
                <a:sym typeface="Open Sans"/>
              </a:rPr>
              <a:t> date, message varchar2(40));</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ct val="80000"/>
              <a:buNone/>
            </a:pP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ct val="80000"/>
              <a:buNone/>
            </a:pPr>
            <a:r>
              <a:rPr lang="en-US" dirty="0">
                <a:latin typeface="Times New Roman" panose="02020603050405020304" pitchFamily="18" charset="0"/>
                <a:cs typeface="Times New Roman" panose="02020603050405020304" pitchFamily="18" charset="0"/>
                <a:sym typeface="Open Sans"/>
              </a:rPr>
              <a:t>Run the following anonymous PL/SQL block followed by SELECT statement:</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ct val="80000"/>
              <a:buNone/>
            </a:pP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ct val="80000"/>
              <a:buNone/>
            </a:pPr>
            <a:r>
              <a:rPr lang="en-US" dirty="0">
                <a:latin typeface="Times New Roman" panose="02020603050405020304" pitchFamily="18" charset="0"/>
                <a:cs typeface="Times New Roman" panose="02020603050405020304" pitchFamily="18" charset="0"/>
                <a:sym typeface="Open Sans"/>
              </a:rPr>
              <a:t>DECLARE</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ct val="80000"/>
              <a:buNone/>
            </a:pPr>
            <a:r>
              <a:rPr lang="en-US" dirty="0">
                <a:latin typeface="Times New Roman" panose="02020603050405020304" pitchFamily="18" charset="0"/>
                <a:cs typeface="Times New Roman" panose="02020603050405020304" pitchFamily="18" charset="0"/>
                <a:sym typeface="Open Sans"/>
              </a:rPr>
              <a:t>  </a:t>
            </a:r>
            <a:r>
              <a:rPr lang="en-US" dirty="0" err="1">
                <a:latin typeface="Times New Roman" panose="02020603050405020304" pitchFamily="18" charset="0"/>
                <a:cs typeface="Times New Roman" panose="02020603050405020304" pitchFamily="18" charset="0"/>
                <a:sym typeface="Open Sans"/>
              </a:rPr>
              <a:t>v_msg</a:t>
            </a:r>
            <a:r>
              <a:rPr lang="en-US" dirty="0">
                <a:latin typeface="Times New Roman" panose="02020603050405020304" pitchFamily="18" charset="0"/>
                <a:cs typeface="Times New Roman" panose="02020603050405020304" pitchFamily="18" charset="0"/>
                <a:sym typeface="Open Sans"/>
              </a:rPr>
              <a:t> VARCHAR2(40) := 'Updating the Audit table';</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ct val="80000"/>
              <a:buNone/>
            </a:pPr>
            <a:r>
              <a:rPr lang="en-US" dirty="0">
                <a:latin typeface="Times New Roman" panose="02020603050405020304" pitchFamily="18" charset="0"/>
                <a:cs typeface="Times New Roman" panose="02020603050405020304" pitchFamily="18" charset="0"/>
                <a:sym typeface="Open Sans"/>
              </a:rPr>
              <a:t>BEGIN</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ct val="80000"/>
              <a:buNone/>
            </a:pPr>
            <a:r>
              <a:rPr lang="en-US" dirty="0">
                <a:latin typeface="Times New Roman" panose="02020603050405020304" pitchFamily="18" charset="0"/>
                <a:cs typeface="Times New Roman" panose="02020603050405020304" pitchFamily="18" charset="0"/>
                <a:sym typeface="Open Sans"/>
              </a:rPr>
              <a:t>  INSERT INTO </a:t>
            </a:r>
            <a:r>
              <a:rPr lang="en-US" dirty="0" err="1">
                <a:latin typeface="Times New Roman" panose="02020603050405020304" pitchFamily="18" charset="0"/>
                <a:cs typeface="Times New Roman" panose="02020603050405020304" pitchFamily="18" charset="0"/>
                <a:sym typeface="Open Sans"/>
              </a:rPr>
              <a:t>Lecture_audit_log</a:t>
            </a:r>
            <a:r>
              <a:rPr lang="en-US" dirty="0">
                <a:latin typeface="Times New Roman" panose="02020603050405020304" pitchFamily="18" charset="0"/>
                <a:cs typeface="Times New Roman" panose="02020603050405020304" pitchFamily="18" charset="0"/>
                <a:sym typeface="Open Sans"/>
              </a:rPr>
              <a:t> VALUES (SYSDATE, </a:t>
            </a:r>
            <a:r>
              <a:rPr lang="en-US" dirty="0" err="1">
                <a:latin typeface="Times New Roman" panose="02020603050405020304" pitchFamily="18" charset="0"/>
                <a:cs typeface="Times New Roman" panose="02020603050405020304" pitchFamily="18" charset="0"/>
                <a:sym typeface="Open Sans"/>
              </a:rPr>
              <a:t>v_msg</a:t>
            </a:r>
            <a:r>
              <a:rPr lang="en-US" dirty="0">
                <a:latin typeface="Times New Roman" panose="02020603050405020304" pitchFamily="18" charset="0"/>
                <a:cs typeface="Times New Roman" panose="02020603050405020304" pitchFamily="18" charset="0"/>
                <a:sym typeface="Open Sans"/>
              </a:rPr>
              <a:t>);</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ct val="80000"/>
              <a:buNone/>
            </a:pPr>
            <a:r>
              <a:rPr lang="en-US" dirty="0">
                <a:latin typeface="Times New Roman" panose="02020603050405020304" pitchFamily="18" charset="0"/>
                <a:cs typeface="Times New Roman" panose="02020603050405020304" pitchFamily="18" charset="0"/>
                <a:sym typeface="Open Sans"/>
              </a:rPr>
              <a:t>  </a:t>
            </a:r>
            <a:r>
              <a:rPr lang="en-US" dirty="0" err="1">
                <a:latin typeface="Times New Roman" panose="02020603050405020304" pitchFamily="18" charset="0"/>
                <a:cs typeface="Times New Roman" panose="02020603050405020304" pitchFamily="18" charset="0"/>
                <a:sym typeface="Open Sans"/>
              </a:rPr>
              <a:t>dbms_output.put_line</a:t>
            </a:r>
            <a:r>
              <a:rPr lang="en-US" dirty="0">
                <a:latin typeface="Times New Roman" panose="02020603050405020304" pitchFamily="18" charset="0"/>
                <a:cs typeface="Times New Roman" panose="02020603050405020304" pitchFamily="18" charset="0"/>
                <a:sym typeface="Open Sans"/>
              </a:rPr>
              <a:t>('Inserted a record into LAB5_audit_log');</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ct val="80000"/>
              <a:buNone/>
            </a:pPr>
            <a:r>
              <a:rPr lang="en-US" dirty="0">
                <a:latin typeface="Times New Roman" panose="02020603050405020304" pitchFamily="18" charset="0"/>
                <a:cs typeface="Times New Roman" panose="02020603050405020304" pitchFamily="18" charset="0"/>
                <a:sym typeface="Open Sans"/>
              </a:rPr>
              <a:t>END;</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ct val="80000"/>
              <a:buNone/>
            </a:pP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ct val="80000"/>
              <a:buNone/>
            </a:pPr>
            <a:r>
              <a:rPr lang="en-US" dirty="0">
                <a:latin typeface="Times New Roman" panose="02020603050405020304" pitchFamily="18" charset="0"/>
                <a:cs typeface="Times New Roman" panose="02020603050405020304" pitchFamily="18" charset="0"/>
                <a:sym typeface="Open Sans"/>
              </a:rPr>
              <a:t>SELECT * FROM </a:t>
            </a:r>
            <a:r>
              <a:rPr lang="en-US" dirty="0" err="1">
                <a:latin typeface="Times New Roman" panose="02020603050405020304" pitchFamily="18" charset="0"/>
                <a:cs typeface="Times New Roman" panose="02020603050405020304" pitchFamily="18" charset="0"/>
                <a:sym typeface="Open Sans"/>
              </a:rPr>
              <a:t>Lecture_audit_log</a:t>
            </a:r>
            <a:r>
              <a:rPr lang="en-US" dirty="0">
                <a:latin typeface="Times New Roman" panose="02020603050405020304" pitchFamily="18" charset="0"/>
                <a:cs typeface="Times New Roman" panose="02020603050405020304" pitchFamily="18" charset="0"/>
                <a:sym typeface="Open Sans"/>
              </a:rPr>
              <a:t>;</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ct val="80000"/>
              <a:buNone/>
            </a:pPr>
            <a:endParaRPr dirty="0">
              <a:latin typeface="Times New Roman" panose="02020603050405020304" pitchFamily="18" charset="0"/>
              <a:cs typeface="Times New Roman" panose="02020603050405020304" pitchFamily="18" charset="0"/>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3"/>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dirty="0">
                <a:latin typeface="Times New Roman" panose="02020603050405020304" pitchFamily="18" charset="0"/>
                <a:cs typeface="Times New Roman" panose="02020603050405020304" pitchFamily="18" charset="0"/>
              </a:rPr>
              <a:t>Example</a:t>
            </a:r>
            <a:endParaRPr dirty="0">
              <a:latin typeface="Times New Roman" panose="02020603050405020304" pitchFamily="18" charset="0"/>
              <a:cs typeface="Times New Roman" panose="02020603050405020304" pitchFamily="18" charset="0"/>
            </a:endParaRPr>
          </a:p>
        </p:txBody>
      </p:sp>
      <p:sp>
        <p:nvSpPr>
          <p:cNvPr id="153" name="Google Shape;153;p23"/>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Notice that a row has indeed been inserted into </a:t>
            </a:r>
            <a:r>
              <a:rPr lang="en-US" dirty="0" err="1">
                <a:latin typeface="Times New Roman" panose="02020603050405020304" pitchFamily="18" charset="0"/>
                <a:cs typeface="Times New Roman" panose="02020603050405020304" pitchFamily="18" charset="0"/>
                <a:sym typeface="Open Sans"/>
              </a:rPr>
              <a:t>Lecture_audit_log</a:t>
            </a:r>
            <a:r>
              <a:rPr lang="en-US" dirty="0">
                <a:latin typeface="Times New Roman" panose="02020603050405020304" pitchFamily="18" charset="0"/>
                <a:cs typeface="Times New Roman" panose="02020603050405020304" pitchFamily="18" charset="0"/>
                <a:sym typeface="Open Sans"/>
              </a:rPr>
              <a:t>. Now run a ROLLBACK statement and rerun the SELECT statement.</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ROLLBACK;</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SELECT * FROM </a:t>
            </a:r>
            <a:r>
              <a:rPr lang="en-US" dirty="0" err="1">
                <a:latin typeface="Times New Roman" panose="02020603050405020304" pitchFamily="18" charset="0"/>
                <a:cs typeface="Times New Roman" panose="02020603050405020304" pitchFamily="18" charset="0"/>
                <a:sym typeface="Open Sans"/>
              </a:rPr>
              <a:t>Lecture_audit_log</a:t>
            </a:r>
            <a:r>
              <a:rPr lang="en-US" dirty="0">
                <a:latin typeface="Times New Roman" panose="02020603050405020304" pitchFamily="18" charset="0"/>
                <a:cs typeface="Times New Roman" panose="02020603050405020304" pitchFamily="18" charset="0"/>
                <a:sym typeface="Open Sans"/>
              </a:rPr>
              <a:t>;</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Notice that the row has been removed from </a:t>
            </a:r>
            <a:r>
              <a:rPr lang="en-US" dirty="0" err="1">
                <a:latin typeface="Times New Roman" panose="02020603050405020304" pitchFamily="18" charset="0"/>
                <a:cs typeface="Times New Roman" panose="02020603050405020304" pitchFamily="18" charset="0"/>
                <a:sym typeface="Open Sans"/>
              </a:rPr>
              <a:t>Lecture_audit_log</a:t>
            </a:r>
            <a:r>
              <a:rPr lang="en-US" dirty="0">
                <a:latin typeface="Times New Roman" panose="02020603050405020304" pitchFamily="18" charset="0"/>
                <a:cs typeface="Times New Roman" panose="02020603050405020304" pitchFamily="18" charset="0"/>
                <a:sym typeface="Open Sans"/>
              </a:rPr>
              <a:t>. </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Now let's make the executable code in the PL/SQL block be run in an autonomous transaction. First let's add a row to </a:t>
            </a:r>
            <a:r>
              <a:rPr lang="en-US" dirty="0" err="1">
                <a:latin typeface="Times New Roman" panose="02020603050405020304" pitchFamily="18" charset="0"/>
                <a:cs typeface="Times New Roman" panose="02020603050405020304" pitchFamily="18" charset="0"/>
                <a:sym typeface="Open Sans"/>
              </a:rPr>
              <a:t>Lecture_audit_log</a:t>
            </a:r>
            <a:r>
              <a:rPr lang="en-US" dirty="0">
                <a:latin typeface="Times New Roman" panose="02020603050405020304" pitchFamily="18" charset="0"/>
                <a:cs typeface="Times New Roman" panose="02020603050405020304" pitchFamily="18" charset="0"/>
                <a:sym typeface="Open Sans"/>
              </a:rPr>
              <a:t>:</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INSERT INTO </a:t>
            </a:r>
            <a:r>
              <a:rPr lang="en-US" dirty="0" err="1">
                <a:latin typeface="Times New Roman" panose="02020603050405020304" pitchFamily="18" charset="0"/>
                <a:cs typeface="Times New Roman" panose="02020603050405020304" pitchFamily="18" charset="0"/>
                <a:sym typeface="Open Sans"/>
              </a:rPr>
              <a:t>Lecture_audit_log</a:t>
            </a:r>
            <a:r>
              <a:rPr lang="en-US" dirty="0">
                <a:latin typeface="Times New Roman" panose="02020603050405020304" pitchFamily="18" charset="0"/>
                <a:cs typeface="Times New Roman" panose="02020603050405020304" pitchFamily="18" charset="0"/>
                <a:sym typeface="Open Sans"/>
              </a:rPr>
              <a:t> VALUES (SYSDATE, 'Inserted a record - before block');</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4"/>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dirty="0">
                <a:latin typeface="Times New Roman" panose="02020603050405020304" pitchFamily="18" charset="0"/>
                <a:cs typeface="Times New Roman" panose="02020603050405020304" pitchFamily="18" charset="0"/>
              </a:rPr>
              <a:t>Example</a:t>
            </a:r>
            <a:endParaRPr dirty="0">
              <a:latin typeface="Times New Roman" panose="02020603050405020304" pitchFamily="18" charset="0"/>
              <a:cs typeface="Times New Roman" panose="02020603050405020304" pitchFamily="18" charset="0"/>
            </a:endParaRPr>
          </a:p>
        </p:txBody>
      </p:sp>
      <p:sp>
        <p:nvSpPr>
          <p:cNvPr id="160" name="Google Shape;160;p24"/>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Verify that the INSERT was accomplished. Now, run the anonymous block as before, but with the code highlighted in </a:t>
            </a:r>
            <a:r>
              <a:rPr lang="en-US" b="1" dirty="0">
                <a:latin typeface="Times New Roman" panose="02020603050405020304" pitchFamily="18" charset="0"/>
                <a:cs typeface="Times New Roman" panose="02020603050405020304" pitchFamily="18" charset="0"/>
                <a:sym typeface="Open Sans"/>
              </a:rPr>
              <a:t>bold</a:t>
            </a:r>
            <a:r>
              <a:rPr lang="en-US" dirty="0">
                <a:latin typeface="Times New Roman" panose="02020603050405020304" pitchFamily="18" charset="0"/>
                <a:cs typeface="Times New Roman" panose="02020603050405020304" pitchFamily="18" charset="0"/>
                <a:sym typeface="Open Sans"/>
              </a:rPr>
              <a:t> added:</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DECLARE</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  </a:t>
            </a:r>
            <a:r>
              <a:rPr lang="en-US" dirty="0" err="1">
                <a:latin typeface="Times New Roman" panose="02020603050405020304" pitchFamily="18" charset="0"/>
                <a:cs typeface="Times New Roman" panose="02020603050405020304" pitchFamily="18" charset="0"/>
                <a:sym typeface="Open Sans"/>
              </a:rPr>
              <a:t>v_msg</a:t>
            </a:r>
            <a:r>
              <a:rPr lang="en-US" dirty="0">
                <a:latin typeface="Times New Roman" panose="02020603050405020304" pitchFamily="18" charset="0"/>
                <a:cs typeface="Times New Roman" panose="02020603050405020304" pitchFamily="18" charset="0"/>
                <a:sym typeface="Open Sans"/>
              </a:rPr>
              <a:t> VARCHAR2(40) := 'Updating the Audit table';</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b="1" dirty="0">
                <a:latin typeface="Times New Roman" panose="02020603050405020304" pitchFamily="18" charset="0"/>
                <a:cs typeface="Times New Roman" panose="02020603050405020304" pitchFamily="18" charset="0"/>
                <a:sym typeface="Open Sans"/>
              </a:rPr>
              <a:t>  PRAGMA AUTONOMOUS_TRANSACTION;</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BEGIN</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  INSERT INTO </a:t>
            </a:r>
            <a:r>
              <a:rPr lang="en-US" dirty="0" err="1">
                <a:latin typeface="Times New Roman" panose="02020603050405020304" pitchFamily="18" charset="0"/>
                <a:cs typeface="Times New Roman" panose="02020603050405020304" pitchFamily="18" charset="0"/>
                <a:sym typeface="Open Sans"/>
              </a:rPr>
              <a:t>Lecture_audit_log</a:t>
            </a:r>
            <a:r>
              <a:rPr lang="en-US" dirty="0">
                <a:latin typeface="Times New Roman" panose="02020603050405020304" pitchFamily="18" charset="0"/>
                <a:cs typeface="Times New Roman" panose="02020603050405020304" pitchFamily="18" charset="0"/>
                <a:sym typeface="Open Sans"/>
              </a:rPr>
              <a:t> VALUES (SYSDATE, </a:t>
            </a:r>
            <a:r>
              <a:rPr lang="en-US" dirty="0" err="1">
                <a:latin typeface="Times New Roman" panose="02020603050405020304" pitchFamily="18" charset="0"/>
                <a:cs typeface="Times New Roman" panose="02020603050405020304" pitchFamily="18" charset="0"/>
                <a:sym typeface="Open Sans"/>
              </a:rPr>
              <a:t>v_msg</a:t>
            </a:r>
            <a:r>
              <a:rPr lang="en-US" dirty="0">
                <a:latin typeface="Times New Roman" panose="02020603050405020304" pitchFamily="18" charset="0"/>
                <a:cs typeface="Times New Roman" panose="02020603050405020304" pitchFamily="18" charset="0"/>
                <a:sym typeface="Open Sans"/>
              </a:rPr>
              <a:t>);</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  </a:t>
            </a:r>
            <a:r>
              <a:rPr lang="en-US" dirty="0" err="1">
                <a:latin typeface="Times New Roman" panose="02020603050405020304" pitchFamily="18" charset="0"/>
                <a:cs typeface="Times New Roman" panose="02020603050405020304" pitchFamily="18" charset="0"/>
                <a:sym typeface="Open Sans"/>
              </a:rPr>
              <a:t>dbms_output.put_line</a:t>
            </a:r>
            <a:r>
              <a:rPr lang="en-US" dirty="0">
                <a:latin typeface="Times New Roman" panose="02020603050405020304" pitchFamily="18" charset="0"/>
                <a:cs typeface="Times New Roman" panose="02020603050405020304" pitchFamily="18" charset="0"/>
                <a:sym typeface="Open Sans"/>
              </a:rPr>
              <a:t>('Inserted a record into </a:t>
            </a:r>
            <a:r>
              <a:rPr lang="en-US" dirty="0" err="1">
                <a:latin typeface="Times New Roman" panose="02020603050405020304" pitchFamily="18" charset="0"/>
                <a:cs typeface="Times New Roman" panose="02020603050405020304" pitchFamily="18" charset="0"/>
                <a:sym typeface="Open Sans"/>
              </a:rPr>
              <a:t>Lecture_audit_log</a:t>
            </a:r>
            <a:r>
              <a:rPr lang="en-US" dirty="0">
                <a:latin typeface="Times New Roman" panose="02020603050405020304" pitchFamily="18" charset="0"/>
                <a:cs typeface="Times New Roman" panose="02020603050405020304" pitchFamily="18" charset="0"/>
                <a:sym typeface="Open Sans"/>
              </a:rPr>
              <a:t>');</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b="1" dirty="0">
                <a:latin typeface="Times New Roman" panose="02020603050405020304" pitchFamily="18" charset="0"/>
                <a:cs typeface="Times New Roman" panose="02020603050405020304" pitchFamily="18" charset="0"/>
                <a:sym typeface="Open Sans"/>
              </a:rPr>
              <a:t>  COMMIT;</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END;</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5"/>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dirty="0">
                <a:latin typeface="Times New Roman" panose="02020603050405020304" pitchFamily="18" charset="0"/>
                <a:cs typeface="Times New Roman" panose="02020603050405020304" pitchFamily="18" charset="0"/>
              </a:rPr>
              <a:t>Example</a:t>
            </a:r>
            <a:endParaRPr dirty="0">
              <a:latin typeface="Times New Roman" panose="02020603050405020304" pitchFamily="18" charset="0"/>
              <a:cs typeface="Times New Roman" panose="02020603050405020304" pitchFamily="18" charset="0"/>
            </a:endParaRPr>
          </a:p>
        </p:txBody>
      </p:sp>
      <p:sp>
        <p:nvSpPr>
          <p:cNvPr id="167" name="Google Shape;167;p25"/>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SELECT * FROM </a:t>
            </a:r>
            <a:r>
              <a:rPr lang="en-US" dirty="0" err="1">
                <a:latin typeface="Times New Roman" panose="02020603050405020304" pitchFamily="18" charset="0"/>
                <a:cs typeface="Times New Roman" panose="02020603050405020304" pitchFamily="18" charset="0"/>
                <a:sym typeface="Open Sans"/>
              </a:rPr>
              <a:t>Lecture_audit_log</a:t>
            </a:r>
            <a:r>
              <a:rPr lang="en-US" dirty="0">
                <a:latin typeface="Times New Roman" panose="02020603050405020304" pitchFamily="18" charset="0"/>
                <a:cs typeface="Times New Roman" panose="02020603050405020304" pitchFamily="18" charset="0"/>
                <a:sym typeface="Open Sans"/>
              </a:rPr>
              <a:t>;</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You see two the two rows as expected:</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17-NOV-21    Inserted a record - before block</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17-NOV-21    Updating the Audit table</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Now run a ROLLBACK statement and rerun the SELECT statement. Notice that just the first row has been removed from LAB5_audit_log. This row stays:</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17-NOV-21    Updating the Audit table</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The remaining row was inserted as part of the </a:t>
            </a:r>
            <a:r>
              <a:rPr lang="en-US" b="1" dirty="0">
                <a:latin typeface="Times New Roman" panose="02020603050405020304" pitchFamily="18" charset="0"/>
                <a:cs typeface="Times New Roman" panose="02020603050405020304" pitchFamily="18" charset="0"/>
                <a:sym typeface="Open Sans"/>
              </a:rPr>
              <a:t>autonomous transaction</a:t>
            </a:r>
            <a:r>
              <a:rPr lang="en-US" dirty="0">
                <a:latin typeface="Times New Roman" panose="02020603050405020304" pitchFamily="18" charset="0"/>
                <a:cs typeface="Times New Roman" panose="02020603050405020304" pitchFamily="18" charset="0"/>
                <a:sym typeface="Open Sans"/>
              </a:rPr>
              <a:t>. The INSERT performed in the </a:t>
            </a:r>
            <a:r>
              <a:rPr lang="en-US" b="1" dirty="0">
                <a:latin typeface="Times New Roman" panose="02020603050405020304" pitchFamily="18" charset="0"/>
                <a:cs typeface="Times New Roman" panose="02020603050405020304" pitchFamily="18" charset="0"/>
                <a:sym typeface="Open Sans"/>
              </a:rPr>
              <a:t>main transaction </a:t>
            </a:r>
            <a:r>
              <a:rPr lang="en-US" dirty="0">
                <a:latin typeface="Times New Roman" panose="02020603050405020304" pitchFamily="18" charset="0"/>
                <a:cs typeface="Times New Roman" panose="02020603050405020304" pitchFamily="18" charset="0"/>
                <a:sym typeface="Open Sans"/>
              </a:rPr>
              <a:t>was the one that disappeared (was removed by the rollback).</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6"/>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dirty="0">
                <a:latin typeface="Times New Roman" panose="02020603050405020304" pitchFamily="18" charset="0"/>
                <a:cs typeface="Times New Roman" panose="02020603050405020304" pitchFamily="18" charset="0"/>
              </a:rPr>
              <a:t>Example 2</a:t>
            </a:r>
            <a:endParaRPr dirty="0">
              <a:latin typeface="Times New Roman" panose="02020603050405020304" pitchFamily="18" charset="0"/>
              <a:cs typeface="Times New Roman" panose="02020603050405020304" pitchFamily="18" charset="0"/>
            </a:endParaRPr>
          </a:p>
        </p:txBody>
      </p:sp>
      <p:sp>
        <p:nvSpPr>
          <p:cNvPr id="174" name="Google Shape;174;p26"/>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10000"/>
              </a:lnSpc>
              <a:spcBef>
                <a:spcPts val="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Consider the trigger bellow. It inserts an audit record in </a:t>
            </a:r>
            <a:r>
              <a:rPr lang="en-US" dirty="0" err="1">
                <a:latin typeface="Times New Roman" panose="02020603050405020304" pitchFamily="18" charset="0"/>
                <a:cs typeface="Times New Roman" panose="02020603050405020304" pitchFamily="18" charset="0"/>
                <a:sym typeface="Open Sans"/>
              </a:rPr>
              <a:t>customerAudit</a:t>
            </a:r>
            <a:r>
              <a:rPr lang="en-US" dirty="0">
                <a:latin typeface="Times New Roman" panose="02020603050405020304" pitchFamily="18" charset="0"/>
                <a:cs typeface="Times New Roman" panose="02020603050405020304" pitchFamily="18" charset="0"/>
                <a:sym typeface="Open Sans"/>
              </a:rPr>
              <a:t> when an update or delete occurs. </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CREATE OR REPLACE TRIGGER </a:t>
            </a:r>
            <a:r>
              <a:rPr lang="en-US" dirty="0" err="1">
                <a:latin typeface="Times New Roman" panose="02020603050405020304" pitchFamily="18" charset="0"/>
                <a:cs typeface="Times New Roman" panose="02020603050405020304" pitchFamily="18" charset="0"/>
                <a:sym typeface="Open Sans"/>
              </a:rPr>
              <a:t>customer_AUD</a:t>
            </a: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AFTER UPDATE OR DELETE ON customers</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FOR EACH ROW</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DECLARE</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  </a:t>
            </a:r>
            <a:r>
              <a:rPr lang="en-US" dirty="0" err="1">
                <a:latin typeface="Times New Roman" panose="02020603050405020304" pitchFamily="18" charset="0"/>
                <a:cs typeface="Times New Roman" panose="02020603050405020304" pitchFamily="18" charset="0"/>
                <a:sym typeface="Open Sans"/>
              </a:rPr>
              <a:t>v_msg</a:t>
            </a:r>
            <a:r>
              <a:rPr lang="en-US" dirty="0">
                <a:latin typeface="Times New Roman" panose="02020603050405020304" pitchFamily="18" charset="0"/>
                <a:cs typeface="Times New Roman" panose="02020603050405020304" pitchFamily="18" charset="0"/>
                <a:sym typeface="Open Sans"/>
              </a:rPr>
              <a:t> VARCHAR2(55) := 'Update to customer: ';</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  </a:t>
            </a:r>
            <a:r>
              <a:rPr lang="en-US" dirty="0" err="1">
                <a:latin typeface="Times New Roman" panose="02020603050405020304" pitchFamily="18" charset="0"/>
                <a:cs typeface="Times New Roman" panose="02020603050405020304" pitchFamily="18" charset="0"/>
                <a:sym typeface="Open Sans"/>
              </a:rPr>
              <a:t>v_count</a:t>
            </a:r>
            <a:r>
              <a:rPr lang="en-US" dirty="0">
                <a:latin typeface="Times New Roman" panose="02020603050405020304" pitchFamily="18" charset="0"/>
                <a:cs typeface="Times New Roman" panose="02020603050405020304" pitchFamily="18" charset="0"/>
                <a:sym typeface="Open Sans"/>
              </a:rPr>
              <a:t> NUMBER := 0;</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BEGIN</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  </a:t>
            </a:r>
            <a:r>
              <a:rPr lang="en-US" dirty="0" err="1">
                <a:latin typeface="Times New Roman" panose="02020603050405020304" pitchFamily="18" charset="0"/>
                <a:cs typeface="Times New Roman" panose="02020603050405020304" pitchFamily="18" charset="0"/>
                <a:sym typeface="Open Sans"/>
              </a:rPr>
              <a:t>v_msg</a:t>
            </a:r>
            <a:r>
              <a:rPr lang="en-US" dirty="0">
                <a:latin typeface="Times New Roman" panose="02020603050405020304" pitchFamily="18" charset="0"/>
                <a:cs typeface="Times New Roman" panose="02020603050405020304" pitchFamily="18" charset="0"/>
                <a:sym typeface="Open Sans"/>
              </a:rPr>
              <a:t> := </a:t>
            </a:r>
            <a:r>
              <a:rPr lang="en-US" dirty="0" err="1">
                <a:latin typeface="Times New Roman" panose="02020603050405020304" pitchFamily="18" charset="0"/>
                <a:cs typeface="Times New Roman" panose="02020603050405020304" pitchFamily="18" charset="0"/>
                <a:sym typeface="Open Sans"/>
              </a:rPr>
              <a:t>v_msg</a:t>
            </a:r>
            <a:r>
              <a:rPr lang="en-US" dirty="0">
                <a:latin typeface="Times New Roman" panose="02020603050405020304" pitchFamily="18" charset="0"/>
                <a:cs typeface="Times New Roman" panose="02020603050405020304" pitchFamily="18" charset="0"/>
                <a:sym typeface="Open Sans"/>
              </a:rPr>
              <a:t> || :OLD.ID;</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  INSERT INTO </a:t>
            </a:r>
            <a:r>
              <a:rPr lang="en-US" dirty="0" err="1">
                <a:latin typeface="Times New Roman" panose="02020603050405020304" pitchFamily="18" charset="0"/>
                <a:cs typeface="Times New Roman" panose="02020603050405020304" pitchFamily="18" charset="0"/>
                <a:sym typeface="Open Sans"/>
              </a:rPr>
              <a:t>customerAudit</a:t>
            </a:r>
            <a:r>
              <a:rPr lang="en-US" dirty="0">
                <a:latin typeface="Times New Roman" panose="02020603050405020304" pitchFamily="18" charset="0"/>
                <a:cs typeface="Times New Roman" panose="02020603050405020304" pitchFamily="18" charset="0"/>
                <a:sym typeface="Open Sans"/>
              </a:rPr>
              <a:t> VALUES (USER, SYSDATE, </a:t>
            </a:r>
            <a:r>
              <a:rPr lang="en-US" dirty="0" err="1">
                <a:latin typeface="Times New Roman" panose="02020603050405020304" pitchFamily="18" charset="0"/>
                <a:cs typeface="Times New Roman" panose="02020603050405020304" pitchFamily="18" charset="0"/>
                <a:sym typeface="Open Sans"/>
              </a:rPr>
              <a:t>v_msg</a:t>
            </a:r>
            <a:r>
              <a:rPr lang="en-US" dirty="0">
                <a:latin typeface="Times New Roman" panose="02020603050405020304" pitchFamily="18" charset="0"/>
                <a:cs typeface="Times New Roman" panose="02020603050405020304" pitchFamily="18" charset="0"/>
                <a:sym typeface="Open Sans"/>
              </a:rPr>
              <a:t>);</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END;</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7"/>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dirty="0">
                <a:latin typeface="Times New Roman" panose="02020603050405020304" pitchFamily="18" charset="0"/>
                <a:cs typeface="Times New Roman" panose="02020603050405020304" pitchFamily="18" charset="0"/>
              </a:rPr>
              <a:t>Example 2</a:t>
            </a:r>
            <a:endParaRPr dirty="0">
              <a:latin typeface="Times New Roman" panose="02020603050405020304" pitchFamily="18" charset="0"/>
              <a:cs typeface="Times New Roman" panose="02020603050405020304" pitchFamily="18" charset="0"/>
            </a:endParaRPr>
          </a:p>
        </p:txBody>
      </p:sp>
      <p:sp>
        <p:nvSpPr>
          <p:cNvPr id="181" name="Google Shape;181;p27"/>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So, run:</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UPDATE CUSTOMERS SET name = 'Bob Joey' WHERE ID = 3100005;</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Notice how you get the updated customer in the table and an audit is made in the customer audit.</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8"/>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dirty="0">
                <a:latin typeface="Times New Roman" panose="02020603050405020304" pitchFamily="18" charset="0"/>
                <a:cs typeface="Times New Roman" panose="02020603050405020304" pitchFamily="18" charset="0"/>
              </a:rPr>
              <a:t>Example 2</a:t>
            </a:r>
            <a:endParaRPr dirty="0">
              <a:latin typeface="Times New Roman" panose="02020603050405020304" pitchFamily="18" charset="0"/>
              <a:cs typeface="Times New Roman" panose="02020603050405020304" pitchFamily="18" charset="0"/>
            </a:endParaRPr>
          </a:p>
        </p:txBody>
      </p:sp>
      <p:sp>
        <p:nvSpPr>
          <p:cNvPr id="188" name="Google Shape;188;p28"/>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a:bodyPr>
          <a:lstStyle/>
          <a:p>
            <a:pPr marL="182563" lvl="0" indent="-182563" algn="l" rtl="0">
              <a:lnSpc>
                <a:spcPct val="110000"/>
              </a:lnSpc>
              <a:spcBef>
                <a:spcPts val="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But, the user can later rollback the changes. You would still like to capture the fact that someone was attempting to change a row even if they rollback.</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OK. Easy fix, right? Just insert a commit near the end of the executable part of the trigger. Couple of issues.</a:t>
            </a:r>
            <a:endParaRPr dirty="0">
              <a:latin typeface="Times New Roman" panose="02020603050405020304" pitchFamily="18" charset="0"/>
              <a:cs typeface="Times New Roman" panose="02020603050405020304" pitchFamily="18" charset="0"/>
            </a:endParaRPr>
          </a:p>
          <a:p>
            <a:pPr marL="355600" lvl="1" indent="-173037" algn="l" rtl="0">
              <a:lnSpc>
                <a:spcPct val="110000"/>
              </a:lnSpc>
              <a:spcBef>
                <a:spcPts val="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This essentially would disable the rollbacks (after DML commands) for the table that the trigger is attached to. – BAD IDEA and generate an error</a:t>
            </a:r>
            <a:endParaRPr dirty="0">
              <a:latin typeface="Times New Roman" panose="02020603050405020304" pitchFamily="18" charset="0"/>
              <a:cs typeface="Times New Roman" panose="02020603050405020304" pitchFamily="18" charset="0"/>
            </a:endParaRPr>
          </a:p>
          <a:p>
            <a:pPr marL="355600" lvl="1" indent="-173037" algn="l" rtl="0">
              <a:lnSpc>
                <a:spcPct val="110000"/>
              </a:lnSpc>
              <a:spcBef>
                <a:spcPts val="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Oracle doesn’t allow you to commit in a trigger unless it was part of an Autonomous Transaction that was started in the trigger.</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9"/>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dirty="0">
                <a:latin typeface="Times New Roman" panose="02020603050405020304" pitchFamily="18" charset="0"/>
                <a:cs typeface="Times New Roman" panose="02020603050405020304" pitchFamily="18" charset="0"/>
              </a:rPr>
              <a:t>Example 2 - Autonomous Transaction</a:t>
            </a:r>
            <a:endParaRPr dirty="0">
              <a:latin typeface="Times New Roman" panose="02020603050405020304" pitchFamily="18" charset="0"/>
              <a:cs typeface="Times New Roman" panose="02020603050405020304" pitchFamily="18" charset="0"/>
            </a:endParaRPr>
          </a:p>
        </p:txBody>
      </p:sp>
      <p:sp>
        <p:nvSpPr>
          <p:cNvPr id="195" name="Google Shape;195;p29"/>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10000"/>
              </a:lnSpc>
              <a:spcBef>
                <a:spcPts val="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Use the pragma AUTONOMOUS_TRANSACTION</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CREATE OR REPLACE TRIGGER </a:t>
            </a:r>
            <a:r>
              <a:rPr lang="en-US" dirty="0" err="1">
                <a:latin typeface="Times New Roman" panose="02020603050405020304" pitchFamily="18" charset="0"/>
                <a:cs typeface="Times New Roman" panose="02020603050405020304" pitchFamily="18" charset="0"/>
                <a:sym typeface="Open Sans"/>
              </a:rPr>
              <a:t>customer_AUD</a:t>
            </a: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AFTER UPDATE OR DELETE ON customers</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FOR EACH ROW</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DECLARE</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  </a:t>
            </a:r>
            <a:r>
              <a:rPr lang="en-US" dirty="0" err="1">
                <a:latin typeface="Times New Roman" panose="02020603050405020304" pitchFamily="18" charset="0"/>
                <a:cs typeface="Times New Roman" panose="02020603050405020304" pitchFamily="18" charset="0"/>
                <a:sym typeface="Open Sans"/>
              </a:rPr>
              <a:t>v_msg</a:t>
            </a:r>
            <a:r>
              <a:rPr lang="en-US" dirty="0">
                <a:latin typeface="Times New Roman" panose="02020603050405020304" pitchFamily="18" charset="0"/>
                <a:cs typeface="Times New Roman" panose="02020603050405020304" pitchFamily="18" charset="0"/>
                <a:sym typeface="Open Sans"/>
              </a:rPr>
              <a:t> VARCHAR2(55) := 'Update to customer: ';</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  </a:t>
            </a:r>
            <a:r>
              <a:rPr lang="en-US" dirty="0" err="1">
                <a:latin typeface="Times New Roman" panose="02020603050405020304" pitchFamily="18" charset="0"/>
                <a:cs typeface="Times New Roman" panose="02020603050405020304" pitchFamily="18" charset="0"/>
                <a:sym typeface="Open Sans"/>
              </a:rPr>
              <a:t>v_count</a:t>
            </a:r>
            <a:r>
              <a:rPr lang="en-US" dirty="0">
                <a:latin typeface="Times New Roman" panose="02020603050405020304" pitchFamily="18" charset="0"/>
                <a:cs typeface="Times New Roman" panose="02020603050405020304" pitchFamily="18" charset="0"/>
                <a:sym typeface="Open Sans"/>
              </a:rPr>
              <a:t> NUMBER := 0;</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  pragma AUTONOMOUS_TRANSACTION;</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BEGIN  </a:t>
            </a:r>
            <a:r>
              <a:rPr lang="en-US" dirty="0" err="1">
                <a:latin typeface="Times New Roman" panose="02020603050405020304" pitchFamily="18" charset="0"/>
                <a:cs typeface="Times New Roman" panose="02020603050405020304" pitchFamily="18" charset="0"/>
                <a:sym typeface="Open Sans"/>
              </a:rPr>
              <a:t>v_msg</a:t>
            </a:r>
            <a:r>
              <a:rPr lang="en-US" dirty="0">
                <a:latin typeface="Times New Roman" panose="02020603050405020304" pitchFamily="18" charset="0"/>
                <a:cs typeface="Times New Roman" panose="02020603050405020304" pitchFamily="18" charset="0"/>
                <a:sym typeface="Open Sans"/>
              </a:rPr>
              <a:t> := </a:t>
            </a:r>
            <a:r>
              <a:rPr lang="en-US" dirty="0" err="1">
                <a:latin typeface="Times New Roman" panose="02020603050405020304" pitchFamily="18" charset="0"/>
                <a:cs typeface="Times New Roman" panose="02020603050405020304" pitchFamily="18" charset="0"/>
                <a:sym typeface="Open Sans"/>
              </a:rPr>
              <a:t>v_msg</a:t>
            </a:r>
            <a:r>
              <a:rPr lang="en-US" dirty="0">
                <a:latin typeface="Times New Roman" panose="02020603050405020304" pitchFamily="18" charset="0"/>
                <a:cs typeface="Times New Roman" panose="02020603050405020304" pitchFamily="18" charset="0"/>
                <a:sym typeface="Open Sans"/>
              </a:rPr>
              <a:t> || :OLD.ID;</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  INSERT INTO </a:t>
            </a:r>
            <a:r>
              <a:rPr lang="en-US" dirty="0" err="1">
                <a:latin typeface="Times New Roman" panose="02020603050405020304" pitchFamily="18" charset="0"/>
                <a:cs typeface="Times New Roman" panose="02020603050405020304" pitchFamily="18" charset="0"/>
                <a:sym typeface="Open Sans"/>
              </a:rPr>
              <a:t>customerAudit</a:t>
            </a:r>
            <a:r>
              <a:rPr lang="en-US" dirty="0">
                <a:latin typeface="Times New Roman" panose="02020603050405020304" pitchFamily="18" charset="0"/>
                <a:cs typeface="Times New Roman" panose="02020603050405020304" pitchFamily="18" charset="0"/>
                <a:sym typeface="Open Sans"/>
              </a:rPr>
              <a:t> VALUES (USER, SYSDATE, </a:t>
            </a:r>
            <a:r>
              <a:rPr lang="en-US" dirty="0" err="1">
                <a:latin typeface="Times New Roman" panose="02020603050405020304" pitchFamily="18" charset="0"/>
                <a:cs typeface="Times New Roman" panose="02020603050405020304" pitchFamily="18" charset="0"/>
                <a:sym typeface="Open Sans"/>
              </a:rPr>
              <a:t>v_msg</a:t>
            </a:r>
            <a:r>
              <a:rPr lang="en-US" dirty="0">
                <a:latin typeface="Times New Roman" panose="02020603050405020304" pitchFamily="18" charset="0"/>
                <a:cs typeface="Times New Roman" panose="02020603050405020304" pitchFamily="18" charset="0"/>
                <a:sym typeface="Open Sans"/>
              </a:rPr>
              <a:t>);</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  commit;</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END;</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0"/>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dirty="0">
                <a:latin typeface="Times New Roman" panose="02020603050405020304" pitchFamily="18" charset="0"/>
                <a:cs typeface="Times New Roman" panose="02020603050405020304" pitchFamily="18" charset="0"/>
              </a:rPr>
              <a:t>Example 2 - Autonomous Transaction</a:t>
            </a:r>
            <a:endParaRPr dirty="0">
              <a:latin typeface="Times New Roman" panose="02020603050405020304" pitchFamily="18" charset="0"/>
              <a:cs typeface="Times New Roman" panose="02020603050405020304" pitchFamily="18" charset="0"/>
            </a:endParaRPr>
          </a:p>
        </p:txBody>
      </p:sp>
      <p:sp>
        <p:nvSpPr>
          <p:cNvPr id="202" name="Google Shape;202;p30"/>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Now run:</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UPDATE CUSTOMERS SET name = 'Bob Joey' WHERE ID = 3100005; </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 main transaction generating trigger event</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Notice the changes in the table</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Now run ROLLBACK;</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Notice how customers is changed back to its original state, but the audit still remains in the audit table</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1"/>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dirty="0">
                <a:latin typeface="Times New Roman" panose="02020603050405020304" pitchFamily="18" charset="0"/>
                <a:cs typeface="Times New Roman" panose="02020603050405020304" pitchFamily="18" charset="0"/>
              </a:rPr>
              <a:t>Oracle Transactions</a:t>
            </a:r>
            <a:endParaRPr dirty="0">
              <a:latin typeface="Times New Roman" panose="02020603050405020304" pitchFamily="18" charset="0"/>
              <a:cs typeface="Times New Roman" panose="02020603050405020304" pitchFamily="18" charset="0"/>
            </a:endParaRPr>
          </a:p>
        </p:txBody>
      </p:sp>
      <p:sp>
        <p:nvSpPr>
          <p:cNvPr id="209" name="Google Shape;209;p31"/>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In Oracle you can set transactions to one of </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READ COMMITTED – a transaction can read data updated by other transactions once the data changes have been committed.</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SERIALIZABLE transactions can’t see changes (committed or uncommitted) made by other transactions after the transactions has started. For example, If transaction A is serializable, transaction A will not see changes committed by transaction B after transaction A has started. </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Oracle also has READ ONLY</a:t>
            </a:r>
            <a:endParaRPr dirty="0">
              <a:latin typeface="Times New Roman" panose="02020603050405020304" pitchFamily="18" charset="0"/>
              <a:cs typeface="Times New Roman" panose="02020603050405020304" pitchFamily="18" charset="0"/>
            </a:endParaRPr>
          </a:p>
          <a:p>
            <a:pPr marL="182563" lvl="0" indent="-80963"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a:p>
            <a:pPr marL="182563" lvl="0" indent="-182563" algn="l" rtl="0">
              <a:lnSpc>
                <a:spcPct val="110000"/>
              </a:lnSpc>
              <a:spcBef>
                <a:spcPts val="60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Note this applies for the next transaction to be run</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2"/>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dirty="0">
                <a:latin typeface="Times New Roman" panose="02020603050405020304" pitchFamily="18" charset="0"/>
                <a:cs typeface="Times New Roman" panose="02020603050405020304" pitchFamily="18" charset="0"/>
              </a:rPr>
              <a:t>Oracle Code</a:t>
            </a:r>
            <a:endParaRPr dirty="0">
              <a:latin typeface="Times New Roman" panose="02020603050405020304" pitchFamily="18" charset="0"/>
              <a:cs typeface="Times New Roman" panose="02020603050405020304" pitchFamily="18" charset="0"/>
            </a:endParaRPr>
          </a:p>
        </p:txBody>
      </p:sp>
      <p:sp>
        <p:nvSpPr>
          <p:cNvPr id="216" name="Google Shape;216;p32"/>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Oracle code:</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Set the Isolation Level</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SET TRANSACTION ISOLATION LEVEL READ COMMITTED;</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SET TRANSACTION ISOLATION LEVEL SERIALIZABLE;</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SET TRANSACTION READ ONLY;</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To save the networking and processing cost of beginning each transaction with a SET TRANSACTION statement, you can use the ALTER SESSION statement to set the transaction isolation level for all subsequent transactions:</a:t>
            </a:r>
            <a:endParaRPr dirty="0">
              <a:latin typeface="Times New Roman" panose="02020603050405020304" pitchFamily="18" charset="0"/>
              <a:cs typeface="Times New Roman" panose="02020603050405020304" pitchFamily="18" charset="0"/>
            </a:endParaRPr>
          </a:p>
          <a:p>
            <a:r>
              <a:rPr lang="en-CA" dirty="0"/>
              <a:t>ALTER SESSION SET ISOLATION_LEVEL = SERIALIZABLE;</a:t>
            </a:r>
          </a:p>
          <a:p>
            <a:r>
              <a:rPr lang="en-CA" dirty="0"/>
              <a:t>ALTER SESSION SET ISOLATION_LEVEL = READ COMMITTED;</a:t>
            </a: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3"/>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dirty="0">
                <a:latin typeface="Times New Roman" panose="02020603050405020304" pitchFamily="18" charset="0"/>
                <a:cs typeface="Times New Roman" panose="02020603050405020304" pitchFamily="18" charset="0"/>
              </a:rPr>
              <a:t>Exercise</a:t>
            </a:r>
            <a:endParaRPr dirty="0">
              <a:latin typeface="Times New Roman" panose="02020603050405020304" pitchFamily="18" charset="0"/>
              <a:cs typeface="Times New Roman" panose="02020603050405020304" pitchFamily="18" charset="0"/>
            </a:endParaRPr>
          </a:p>
        </p:txBody>
      </p:sp>
      <p:sp>
        <p:nvSpPr>
          <p:cNvPr id="223" name="Google Shape;223;p33"/>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Exercise: Based on:  </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staff(ID, Name, pay),</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ts val="1600"/>
              <a:buChar char="▪"/>
            </a:pPr>
            <a:r>
              <a:rPr lang="en-US" dirty="0" err="1">
                <a:latin typeface="Times New Roman" panose="02020603050405020304" pitchFamily="18" charset="0"/>
                <a:cs typeface="Times New Roman" panose="02020603050405020304" pitchFamily="18" charset="0"/>
                <a:sym typeface="Open Sans"/>
              </a:rPr>
              <a:t>staffAudit</a:t>
            </a:r>
            <a:r>
              <a:rPr lang="en-US" dirty="0">
                <a:latin typeface="Times New Roman" panose="02020603050405020304" pitchFamily="18" charset="0"/>
                <a:cs typeface="Times New Roman" panose="02020603050405020304" pitchFamily="18" charset="0"/>
                <a:sym typeface="Open Sans"/>
              </a:rPr>
              <a:t>(</a:t>
            </a:r>
            <a:r>
              <a:rPr lang="en-US" dirty="0" err="1">
                <a:latin typeface="Times New Roman" panose="02020603050405020304" pitchFamily="18" charset="0"/>
                <a:cs typeface="Times New Roman" panose="02020603050405020304" pitchFamily="18" charset="0"/>
                <a:sym typeface="Open Sans"/>
              </a:rPr>
              <a:t>uName</a:t>
            </a:r>
            <a:r>
              <a:rPr lang="en-US" dirty="0">
                <a:latin typeface="Times New Roman" panose="02020603050405020304" pitchFamily="18" charset="0"/>
                <a:cs typeface="Times New Roman" panose="02020603050405020304" pitchFamily="18" charset="0"/>
                <a:sym typeface="Open Sans"/>
              </a:rPr>
              <a:t>, </a:t>
            </a:r>
            <a:r>
              <a:rPr lang="en-US" dirty="0" err="1">
                <a:latin typeface="Times New Roman" panose="02020603050405020304" pitchFamily="18" charset="0"/>
                <a:cs typeface="Times New Roman" panose="02020603050405020304" pitchFamily="18" charset="0"/>
                <a:sym typeface="Open Sans"/>
              </a:rPr>
              <a:t>UpdateTime</a:t>
            </a:r>
            <a:r>
              <a:rPr lang="en-US" dirty="0">
                <a:latin typeface="Times New Roman" panose="02020603050405020304" pitchFamily="18" charset="0"/>
                <a:cs typeface="Times New Roman" panose="02020603050405020304" pitchFamily="18" charset="0"/>
                <a:sym typeface="Open Sans"/>
              </a:rPr>
              <a:t>, msg)</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ts val="1600"/>
              <a:buChar char="▪"/>
            </a:pPr>
            <a:r>
              <a:rPr lang="en-US" dirty="0" err="1">
                <a:latin typeface="Times New Roman" panose="02020603050405020304" pitchFamily="18" charset="0"/>
                <a:cs typeface="Times New Roman" panose="02020603050405020304" pitchFamily="18" charset="0"/>
                <a:sym typeface="Open Sans"/>
              </a:rPr>
              <a:t>staffAudit_ALL</a:t>
            </a:r>
            <a:r>
              <a:rPr lang="en-US" dirty="0">
                <a:latin typeface="Times New Roman" panose="02020603050405020304" pitchFamily="18" charset="0"/>
                <a:cs typeface="Times New Roman" panose="02020603050405020304" pitchFamily="18" charset="0"/>
                <a:sym typeface="Open Sans"/>
              </a:rPr>
              <a:t> (</a:t>
            </a:r>
            <a:r>
              <a:rPr lang="en-US" dirty="0" err="1">
                <a:latin typeface="Times New Roman" panose="02020603050405020304" pitchFamily="18" charset="0"/>
                <a:cs typeface="Times New Roman" panose="02020603050405020304" pitchFamily="18" charset="0"/>
                <a:sym typeface="Open Sans"/>
              </a:rPr>
              <a:t>uName</a:t>
            </a:r>
            <a:r>
              <a:rPr lang="en-US" dirty="0">
                <a:latin typeface="Times New Roman" panose="02020603050405020304" pitchFamily="18" charset="0"/>
                <a:cs typeface="Times New Roman" panose="02020603050405020304" pitchFamily="18" charset="0"/>
                <a:sym typeface="Open Sans"/>
              </a:rPr>
              <a:t>, </a:t>
            </a:r>
            <a:r>
              <a:rPr lang="en-US" dirty="0" err="1">
                <a:latin typeface="Times New Roman" panose="02020603050405020304" pitchFamily="18" charset="0"/>
                <a:cs typeface="Times New Roman" panose="02020603050405020304" pitchFamily="18" charset="0"/>
                <a:sym typeface="Open Sans"/>
              </a:rPr>
              <a:t>UpdateTime</a:t>
            </a:r>
            <a:r>
              <a:rPr lang="en-US" dirty="0">
                <a:latin typeface="Times New Roman" panose="02020603050405020304" pitchFamily="18" charset="0"/>
                <a:cs typeface="Times New Roman" panose="02020603050405020304" pitchFamily="18" charset="0"/>
                <a:sym typeface="Open Sans"/>
              </a:rPr>
              <a:t>, msg)</a:t>
            </a:r>
            <a:endParaRPr dirty="0">
              <a:latin typeface="Times New Roman" panose="02020603050405020304" pitchFamily="18" charset="0"/>
              <a:cs typeface="Times New Roman" panose="02020603050405020304" pitchFamily="18" charset="0"/>
            </a:endParaRPr>
          </a:p>
          <a:p>
            <a:pPr marL="182563" lvl="0" indent="-80963"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Provide a PL/SQL solution to the following problem.</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When a user UPDATEs </a:t>
            </a:r>
            <a:r>
              <a:rPr lang="en-US" dirty="0" err="1">
                <a:latin typeface="Times New Roman" panose="02020603050405020304" pitchFamily="18" charset="0"/>
                <a:cs typeface="Times New Roman" panose="02020603050405020304" pitchFamily="18" charset="0"/>
                <a:sym typeface="Open Sans"/>
              </a:rPr>
              <a:t>staff.pay</a:t>
            </a:r>
            <a:r>
              <a:rPr lang="en-US" dirty="0">
                <a:latin typeface="Times New Roman" panose="02020603050405020304" pitchFamily="18" charset="0"/>
                <a:cs typeface="Times New Roman" panose="02020603050405020304" pitchFamily="18" charset="0"/>
                <a:sym typeface="Open Sans"/>
              </a:rPr>
              <a:t>, a record should be inserted into </a:t>
            </a:r>
            <a:r>
              <a:rPr lang="en-US" dirty="0" err="1">
                <a:latin typeface="Times New Roman" panose="02020603050405020304" pitchFamily="18" charset="0"/>
                <a:cs typeface="Times New Roman" panose="02020603050405020304" pitchFamily="18" charset="0"/>
                <a:sym typeface="Open Sans"/>
              </a:rPr>
              <a:t>staffAudit</a:t>
            </a:r>
            <a:r>
              <a:rPr lang="en-US" dirty="0">
                <a:latin typeface="Times New Roman" panose="02020603050405020304" pitchFamily="18" charset="0"/>
                <a:cs typeface="Times New Roman" panose="02020603050405020304" pitchFamily="18" charset="0"/>
                <a:sym typeface="Open Sans"/>
              </a:rPr>
              <a:t>. The record should only persist if the UPDATE persists.</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 </a:t>
            </a:r>
            <a:endParaRPr dirty="0">
              <a:latin typeface="Times New Roman" panose="02020603050405020304" pitchFamily="18" charset="0"/>
              <a:cs typeface="Times New Roman" panose="02020603050405020304" pitchFamily="18" charset="0"/>
            </a:endParaRPr>
          </a:p>
          <a:p>
            <a:pPr marL="182563" lvl="0" indent="-182563" algn="l" rtl="0">
              <a:lnSpc>
                <a:spcPct val="110000"/>
              </a:lnSpc>
              <a:spcBef>
                <a:spcPts val="600"/>
              </a:spcBef>
              <a:spcAft>
                <a:spcPts val="0"/>
              </a:spcAft>
              <a:buClr>
                <a:schemeClr val="dk1"/>
              </a:buClr>
              <a:buSzPts val="1600"/>
              <a:buChar char="▪"/>
            </a:pPr>
            <a:r>
              <a:rPr lang="en-US" dirty="0">
                <a:latin typeface="Times New Roman" panose="02020603050405020304" pitchFamily="18" charset="0"/>
                <a:cs typeface="Times New Roman" panose="02020603050405020304" pitchFamily="18" charset="0"/>
                <a:sym typeface="Open Sans"/>
              </a:rPr>
              <a:t>When a user UPDATEs </a:t>
            </a:r>
            <a:r>
              <a:rPr lang="en-US" dirty="0" err="1">
                <a:latin typeface="Times New Roman" panose="02020603050405020304" pitchFamily="18" charset="0"/>
                <a:cs typeface="Times New Roman" panose="02020603050405020304" pitchFamily="18" charset="0"/>
                <a:sym typeface="Open Sans"/>
              </a:rPr>
              <a:t>staff.pay</a:t>
            </a:r>
            <a:r>
              <a:rPr lang="en-US" dirty="0">
                <a:latin typeface="Times New Roman" panose="02020603050405020304" pitchFamily="18" charset="0"/>
                <a:cs typeface="Times New Roman" panose="02020603050405020304" pitchFamily="18" charset="0"/>
                <a:sym typeface="Open Sans"/>
              </a:rPr>
              <a:t>, by increasing the pay by more than 20%, a record should also be inserted into </a:t>
            </a:r>
            <a:r>
              <a:rPr lang="en-US" dirty="0" err="1">
                <a:latin typeface="Times New Roman" panose="02020603050405020304" pitchFamily="18" charset="0"/>
                <a:cs typeface="Times New Roman" panose="02020603050405020304" pitchFamily="18" charset="0"/>
                <a:sym typeface="Open Sans"/>
              </a:rPr>
              <a:t>staffAudit_ALL</a:t>
            </a:r>
            <a:r>
              <a:rPr lang="en-US" dirty="0">
                <a:latin typeface="Times New Roman" panose="02020603050405020304" pitchFamily="18" charset="0"/>
                <a:cs typeface="Times New Roman" panose="02020603050405020304" pitchFamily="18" charset="0"/>
                <a:sym typeface="Open Sans"/>
              </a:rPr>
              <a:t>. The msg should include the pay increase percentage. This record should persist even if the UPDATE does not persist. </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4"/>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dirty="0">
                <a:latin typeface="Times New Roman" panose="02020603050405020304" pitchFamily="18" charset="0"/>
                <a:cs typeface="Times New Roman" panose="02020603050405020304" pitchFamily="18" charset="0"/>
              </a:rPr>
              <a:t>Exercise - Tables</a:t>
            </a:r>
            <a:endParaRPr dirty="0">
              <a:latin typeface="Times New Roman" panose="02020603050405020304" pitchFamily="18" charset="0"/>
              <a:cs typeface="Times New Roman" panose="02020603050405020304" pitchFamily="18" charset="0"/>
            </a:endParaRPr>
          </a:p>
        </p:txBody>
      </p:sp>
      <p:sp>
        <p:nvSpPr>
          <p:cNvPr id="230" name="Google Shape;230;p34"/>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CREATE TABLE staff(id number, name varchar2(20), pay number);</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CREATE TABLE </a:t>
            </a:r>
            <a:r>
              <a:rPr lang="en-US" dirty="0" err="1">
                <a:latin typeface="Times New Roman" panose="02020603050405020304" pitchFamily="18" charset="0"/>
                <a:cs typeface="Times New Roman" panose="02020603050405020304" pitchFamily="18" charset="0"/>
                <a:sym typeface="Open Sans"/>
              </a:rPr>
              <a:t>staffAudit</a:t>
            </a:r>
            <a:r>
              <a:rPr lang="en-US" dirty="0">
                <a:latin typeface="Times New Roman" panose="02020603050405020304" pitchFamily="18" charset="0"/>
                <a:cs typeface="Times New Roman" panose="02020603050405020304" pitchFamily="18" charset="0"/>
                <a:sym typeface="Open Sans"/>
              </a:rPr>
              <a:t>(</a:t>
            </a:r>
            <a:r>
              <a:rPr lang="en-US" dirty="0" err="1">
                <a:latin typeface="Times New Roman" panose="02020603050405020304" pitchFamily="18" charset="0"/>
                <a:cs typeface="Times New Roman" panose="02020603050405020304" pitchFamily="18" charset="0"/>
                <a:sym typeface="Open Sans"/>
              </a:rPr>
              <a:t>uName</a:t>
            </a:r>
            <a:r>
              <a:rPr lang="en-US" dirty="0">
                <a:latin typeface="Times New Roman" panose="02020603050405020304" pitchFamily="18" charset="0"/>
                <a:cs typeface="Times New Roman" panose="02020603050405020304" pitchFamily="18" charset="0"/>
                <a:sym typeface="Open Sans"/>
              </a:rPr>
              <a:t> varchar2(20), </a:t>
            </a:r>
            <a:r>
              <a:rPr lang="en-US" dirty="0" err="1">
                <a:latin typeface="Times New Roman" panose="02020603050405020304" pitchFamily="18" charset="0"/>
                <a:cs typeface="Times New Roman" panose="02020603050405020304" pitchFamily="18" charset="0"/>
                <a:sym typeface="Open Sans"/>
              </a:rPr>
              <a:t>UpdateTime</a:t>
            </a:r>
            <a:r>
              <a:rPr lang="en-US" dirty="0">
                <a:latin typeface="Times New Roman" panose="02020603050405020304" pitchFamily="18" charset="0"/>
                <a:cs typeface="Times New Roman" panose="02020603050405020304" pitchFamily="18" charset="0"/>
                <a:sym typeface="Open Sans"/>
              </a:rPr>
              <a:t> date, msg varchar2(60));</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CREATE TABLE </a:t>
            </a:r>
            <a:r>
              <a:rPr lang="en-US" dirty="0" err="1">
                <a:latin typeface="Times New Roman" panose="02020603050405020304" pitchFamily="18" charset="0"/>
                <a:cs typeface="Times New Roman" panose="02020603050405020304" pitchFamily="18" charset="0"/>
                <a:sym typeface="Open Sans"/>
              </a:rPr>
              <a:t>staffAudit_ALL</a:t>
            </a:r>
            <a:r>
              <a:rPr lang="en-US" dirty="0">
                <a:latin typeface="Times New Roman" panose="02020603050405020304" pitchFamily="18" charset="0"/>
                <a:cs typeface="Times New Roman" panose="02020603050405020304" pitchFamily="18" charset="0"/>
                <a:sym typeface="Open Sans"/>
              </a:rPr>
              <a:t> (</a:t>
            </a:r>
            <a:r>
              <a:rPr lang="en-US" dirty="0" err="1">
                <a:latin typeface="Times New Roman" panose="02020603050405020304" pitchFamily="18" charset="0"/>
                <a:cs typeface="Times New Roman" panose="02020603050405020304" pitchFamily="18" charset="0"/>
                <a:sym typeface="Open Sans"/>
              </a:rPr>
              <a:t>uName</a:t>
            </a:r>
            <a:r>
              <a:rPr lang="en-US" dirty="0">
                <a:latin typeface="Times New Roman" panose="02020603050405020304" pitchFamily="18" charset="0"/>
                <a:cs typeface="Times New Roman" panose="02020603050405020304" pitchFamily="18" charset="0"/>
                <a:sym typeface="Open Sans"/>
              </a:rPr>
              <a:t> varchar2(20), </a:t>
            </a:r>
            <a:r>
              <a:rPr lang="en-US" dirty="0" err="1">
                <a:latin typeface="Times New Roman" panose="02020603050405020304" pitchFamily="18" charset="0"/>
                <a:cs typeface="Times New Roman" panose="02020603050405020304" pitchFamily="18" charset="0"/>
                <a:sym typeface="Open Sans"/>
              </a:rPr>
              <a:t>UpdateTime</a:t>
            </a:r>
            <a:r>
              <a:rPr lang="en-US" dirty="0">
                <a:latin typeface="Times New Roman" panose="02020603050405020304" pitchFamily="18" charset="0"/>
                <a:cs typeface="Times New Roman" panose="02020603050405020304" pitchFamily="18" charset="0"/>
                <a:sym typeface="Open Sans"/>
              </a:rPr>
              <a:t> date, msg varchar2(60));</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endParaRPr dirty="0">
              <a:latin typeface="Times New Roman" panose="02020603050405020304" pitchFamily="18" charset="0"/>
              <a:cs typeface="Times New Roman" panose="02020603050405020304" pitchFamily="18" charset="0"/>
              <a:sym typeface="Open Sans"/>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INSERT INTO staff VALUES (1, 'John', 20);</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INSERT INTO staff VALUES (2, 'Bob', 40);</a:t>
            </a:r>
            <a:endParaRPr dirty="0">
              <a:latin typeface="Times New Roman" panose="02020603050405020304" pitchFamily="18" charset="0"/>
              <a:cs typeface="Times New Roman" panose="02020603050405020304" pitchFamily="18" charset="0"/>
            </a:endParaRPr>
          </a:p>
          <a:p>
            <a:pPr marL="0" lvl="0" indent="0" algn="l" rtl="0">
              <a:lnSpc>
                <a:spcPct val="110000"/>
              </a:lnSpc>
              <a:spcBef>
                <a:spcPts val="600"/>
              </a:spcBef>
              <a:spcAft>
                <a:spcPts val="0"/>
              </a:spcAft>
              <a:buClr>
                <a:schemeClr val="dk1"/>
              </a:buClr>
              <a:buSzPts val="1600"/>
              <a:buNone/>
            </a:pPr>
            <a:r>
              <a:rPr lang="en-US" dirty="0">
                <a:latin typeface="Times New Roman" panose="02020603050405020304" pitchFamily="18" charset="0"/>
                <a:cs typeface="Times New Roman" panose="02020603050405020304" pitchFamily="18" charset="0"/>
                <a:sym typeface="Open Sans"/>
              </a:rPr>
              <a:t>INSERT INTO staff VALUES (3, 'Joey', 10);</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5"/>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a:t>Exercise - Solution</a:t>
            </a:r>
            <a:endParaRPr/>
          </a:p>
        </p:txBody>
      </p:sp>
      <p:sp>
        <p:nvSpPr>
          <p:cNvPr id="237" name="Google Shape;237;p35"/>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1600"/>
              <a:buNone/>
            </a:pPr>
            <a:r>
              <a:rPr lang="en-US" dirty="0">
                <a:latin typeface="Open Sans"/>
                <a:ea typeface="Open Sans"/>
                <a:cs typeface="Open Sans"/>
                <a:sym typeface="Open Sans"/>
              </a:rPr>
              <a:t>On </a:t>
            </a:r>
            <a:r>
              <a:rPr lang="en-US" dirty="0"/>
              <a:t>GitHub Repository</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6"/>
          <p:cNvSpPr txBox="1">
            <a:spLocks noGrp="1"/>
          </p:cNvSpPr>
          <p:nvPr>
            <p:ph type="title"/>
          </p:nvPr>
        </p:nvSpPr>
        <p:spPr>
          <a:xfrm>
            <a:off x="457200" y="228600"/>
            <a:ext cx="8229600" cy="533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200"/>
              <a:buFont typeface="Open Sans"/>
              <a:buNone/>
            </a:pPr>
            <a:r>
              <a:rPr lang="en-US"/>
              <a:t>Next Class…</a:t>
            </a:r>
            <a:endParaRPr/>
          </a:p>
        </p:txBody>
      </p:sp>
      <p:sp>
        <p:nvSpPr>
          <p:cNvPr id="244" name="Google Shape;244;p36"/>
          <p:cNvSpPr txBox="1">
            <a:spLocks noGrp="1"/>
          </p:cNvSpPr>
          <p:nvPr>
            <p:ph type="body" idx="1"/>
          </p:nvPr>
        </p:nvSpPr>
        <p:spPr>
          <a:xfrm>
            <a:off x="457200" y="914400"/>
            <a:ext cx="8229600" cy="52578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10000"/>
              </a:lnSpc>
              <a:spcBef>
                <a:spcPts val="0"/>
              </a:spcBef>
              <a:spcAft>
                <a:spcPts val="0"/>
              </a:spcAft>
              <a:buClr>
                <a:schemeClr val="dk1"/>
              </a:buClr>
              <a:buSzPts val="1600"/>
              <a:buFont typeface="Noto Sans Symbols"/>
              <a:buChar char="∙"/>
            </a:pPr>
            <a:r>
              <a:rPr lang="en-US">
                <a:latin typeface="Open Sans"/>
                <a:ea typeface="Open Sans"/>
                <a:cs typeface="Open Sans"/>
                <a:sym typeface="Open Sans"/>
              </a:rPr>
              <a:t>Collections</a:t>
            </a:r>
            <a:endParaRPr/>
          </a:p>
        </p:txBody>
      </p:sp>
    </p:spTree>
  </p:cSld>
  <p:clrMapOvr>
    <a:masterClrMapping/>
  </p:clrMapOvr>
</p:sld>
</file>

<file path=ppt/theme/theme1.xml><?xml version="1.0" encoding="utf-8"?>
<a:theme xmlns:a="http://schemas.openxmlformats.org/drawingml/2006/main" name="Lectures (2017)">
  <a:themeElements>
    <a:clrScheme name="Lecture Notes">
      <a:dk1>
        <a:srgbClr val="000000"/>
      </a:dk1>
      <a:lt1>
        <a:srgbClr val="FFFFFF"/>
      </a:lt1>
      <a:dk2>
        <a:srgbClr val="000000"/>
      </a:dk2>
      <a:lt2>
        <a:srgbClr val="F8F8F8"/>
      </a:lt2>
      <a:accent1>
        <a:srgbClr val="DDDDDD"/>
      </a:accent1>
      <a:accent2>
        <a:srgbClr val="9FE13C"/>
      </a:accent2>
      <a:accent3>
        <a:srgbClr val="8AAFF6"/>
      </a:accent3>
      <a:accent4>
        <a:srgbClr val="808080"/>
      </a:accent4>
      <a:accent5>
        <a:srgbClr val="5F5F5F"/>
      </a:accent5>
      <a:accent6>
        <a:srgbClr val="4D4D4D"/>
      </a:accent6>
      <a:hlink>
        <a:srgbClr val="1959EA"/>
      </a:hlink>
      <a:folHlink>
        <a:srgbClr val="1959E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856</TotalTime>
  <Words>2313</Words>
  <Application>Microsoft Macintosh PowerPoint</Application>
  <PresentationFormat>On-screen Show (4:3)</PresentationFormat>
  <Paragraphs>234</Paragraphs>
  <Slides>28</Slides>
  <Notes>28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Noto Sans Symbols</vt:lpstr>
      <vt:lpstr>Arial</vt:lpstr>
      <vt:lpstr>Consolas</vt:lpstr>
      <vt:lpstr>Times New Roman</vt:lpstr>
      <vt:lpstr>Open Sans</vt:lpstr>
      <vt:lpstr>Calibri</vt:lpstr>
      <vt:lpstr>Lectures (2017)</vt:lpstr>
      <vt:lpstr>PowerPoint Presentation</vt:lpstr>
      <vt:lpstr>COSC 404 – PL/SQL</vt:lpstr>
      <vt:lpstr>Transaction Review</vt:lpstr>
      <vt:lpstr>Transaction Review</vt:lpstr>
      <vt:lpstr>Transaction Review</vt:lpstr>
      <vt:lpstr>Committing</vt:lpstr>
      <vt:lpstr>Rollback</vt:lpstr>
      <vt:lpstr>Rollback</vt:lpstr>
      <vt:lpstr>Example of using Commit and Rollback</vt:lpstr>
      <vt:lpstr>Example of using Commit and Rollback</vt:lpstr>
      <vt:lpstr>Autonomous Transactions</vt:lpstr>
      <vt:lpstr>Autonomous Transactions</vt:lpstr>
      <vt:lpstr>Autonomous Transactions</vt:lpstr>
      <vt:lpstr>Example</vt:lpstr>
      <vt:lpstr>Example</vt:lpstr>
      <vt:lpstr>Example</vt:lpstr>
      <vt:lpstr>Example</vt:lpstr>
      <vt:lpstr>Example 2</vt:lpstr>
      <vt:lpstr>Example 2</vt:lpstr>
      <vt:lpstr>Example 2</vt:lpstr>
      <vt:lpstr>Example 2 - Autonomous Transaction</vt:lpstr>
      <vt:lpstr>Example 2 - Autonomous Transaction</vt:lpstr>
      <vt:lpstr>Oracle Transactions</vt:lpstr>
      <vt:lpstr>Oracle Code</vt:lpstr>
      <vt:lpstr>Exercise</vt:lpstr>
      <vt:lpstr>Exercise - Tables</vt:lpstr>
      <vt:lpstr>Exercise - Solution</vt:lpstr>
      <vt:lpstr>Next Class…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Mohamad Khajezade</cp:lastModifiedBy>
  <cp:revision>3</cp:revision>
  <dcterms:modified xsi:type="dcterms:W3CDTF">2025-10-29T16:34:33Z</dcterms:modified>
</cp:coreProperties>
</file>